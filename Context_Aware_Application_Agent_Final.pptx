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Welcome. Present AetherOS, a full-stack context-aware application agent integrated into a no-code enterprise dashboard. Highlight the end-to-end integration: FastAPI, React 19, hybrid vector retrieval, multi-provider LLM orchestration, and deterministic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Detail why traditional chatbots fail in dynamic enterprise apps. AetherOS acts directly upon the application canvas: setting filters, navigating views, and running deterministic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Explain the 4 architectural layers. Detail how Vite proxies to FastAPI, how retrieval uses hybrid embeddings, how the LLM orchestrator executes tools, and how analytics run deterministically.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Focus on the user experience. Emphasize action staggering, the visual glow feedback, embedded Recharts cards in the drawer, and the 90-page collapsible navigation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Detail how analytics correctness is guaranteed. Numbers are extracted directly from Pandas CSV datasets. Review the 4 planted ground truth anomalies and how the agent isolates primary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Highlight our evaluation rigor. The benchmark suite tests 24 natural language queries. In the frontend, the KPI Inspector provides live, transparent telemetry into candidate retrieval scores and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Review the deliverables checklist. All 6 primary modules required by the hackathon specifications are fully implemented, verified, and operational.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Conclude with the production-readiness roadmap resulting from our internal architecture audit. Present the 4-phase plan: PostgreSQL persistence, Redis distributed state, JWT security, and pgvector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10728655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F8FAFC"/>
                </a:solidFill>
              </a:defRPr>
            </a:pPr>
            <a:r>
              <a:t>AetherOS: Context-Aware Application Agent</a:t>
            </a:r>
          </a:p>
          <a:p>
            <a:br/>
            <a:pPr>
              <a:defRPr sz="1800">
                <a:solidFill>
                  <a:srgbClr val="06B6D4"/>
                </a:solidFill>
              </a:defRPr>
            </a:pPr>
            <a:r>
              <a:t>Autonomous In-App Copilot for Dynamic Enterprise No-Code Platforms</a:t>
            </a:r>
            <a:br/>
          </a:p>
          <a:p>
            <a:pPr>
              <a:defRPr sz="1350">
                <a:solidFill>
                  <a:srgbClr val="94A3B8"/>
                </a:solidFill>
              </a:defRPr>
            </a:pPr>
            <a:r>
              <a:t>⚡ Full-Stack Agentic AI: FastAPI Agent Core + React 19 / Vite 8 Glassmorphic UX</a:t>
            </a:r>
            <a:br/>
            <a:r>
              <a:t>🔍 Hybrid Semantic RAG: SentenceTransformers (all-MiniLM-L6-v2) + Sublinear TF-IDF over 90 Catalog Pages</a:t>
            </a:r>
            <a:br/>
            <a:r>
              <a:t>🔄 Multi-Provider LLM Orchestration: Groq (Llama 3.3 70B), Gemini &amp; OpenRouter with Smart Cooldowns</a:t>
            </a:r>
            <a:br/>
            <a:r>
              <a:t>📊 Deterministic Analytics: Pandas Aggregations, Recharts Comparison Waterfalls &amp; Driver Breakdown</a:t>
            </a:r>
            <a:br/>
            <a:r>
              <a:t>🛡️ Human-in-the-Loop Guardrails: Interactive State-Changing Action Confirmations &amp; Real-Time Trace Inspector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PROBLEM DEFINITION &amp; PARADIGM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Why Generic LLM Chatbots Fail in Enterprise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Moving from Static Text Q&amp;A to Direct In-App State &amp; Action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B7185"/>
                </a:solidFill>
              </a:defRPr>
            </a:pPr>
            <a:r>
              <a:t>❌ Generic Out-of-Band Chatbots</a:t>
            </a:r>
          </a:p>
          <a:p>
            <a:br/>
            <a:pPr>
              <a:defRPr sz="1250">
                <a:solidFill>
                  <a:srgbClr val="94A3B8"/>
                </a:solidFill>
              </a:defRPr>
            </a:pPr>
            <a:r>
              <a:t>• Disconnected from Application State: Cannot manipulate active filters, change route paths, or sort grid data.</a:t>
            </a:r>
            <a:br/>
            <a:br/>
            <a:r>
              <a:t>• Manual Navigation Friction: Users must hunt through 19+ directories and 90+ views manually.</a:t>
            </a:r>
            <a:br/>
            <a:br/>
            <a:r>
              <a:t>• Hallucinated Numbers: Generates unverified numerical claims without querying underlying data records.</a:t>
            </a:r>
            <a:br/>
            <a:br/>
            <a:r>
              <a:t>• No Visual Confirmation: Lacks real-time UI synchronization, action highlighting, or deep linking.</a:t>
            </a:r>
            <a:br/>
            <a:br/>
            <a:r>
              <a:t>• Unchecked Execution: Lacks guardrails for destructive state-changing 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92024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✅ AetherOS Context-Aware Copilot</a:t>
            </a:r>
          </a:p>
          <a:p>
            <a:br/>
            <a:pPr>
              <a:defRPr sz="1250">
                <a:solidFill>
                  <a:srgbClr val="94A3B8"/>
                </a:solidFill>
              </a:defRPr>
            </a:pPr>
            <a:r>
              <a:t>• Dynamic UI State Mutation: Directly controls route navigation, multi-column filters, and grid sorts.</a:t>
            </a:r>
            <a:br/>
            <a:br/>
            <a:r>
              <a:t>• Action Staggering &amp; Glow Feedback: Executes actions sequentially (~400ms delay) with 2-second glowing UI rings.</a:t>
            </a:r>
            <a:br/>
            <a:br/>
            <a:r>
              <a:t>• Deterministic Pandas Analytics: Every metric is computed via Pandas (`analytics.py`), never generated by LLM.</a:t>
            </a:r>
            <a:br/>
            <a:br/>
            <a:r>
              <a:t>• Rich In-App Renderers: Displays Recharts period comparison cards, driver bars, and tabular summaries in-drawer.</a:t>
            </a:r>
            <a:br/>
            <a:br/>
            <a:r>
              <a:t>• State-Changing Guardrails: Strict human confirmation flow (`/confirm/{cid}`) for provisioning 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End-to-End Multi-Layered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Decoupled React 19 Frontend + High-Performance FastAPI Reasoning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366F1"/>
                </a:solidFill>
              </a:defRPr>
            </a:pPr>
            <a:r>
              <a:t>1. Presentation &amp; UI State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React 19 + Vite 8</a:t>
            </a:r>
            <a:br/>
            <a:br/>
            <a:r>
              <a:t>• UIStateContext: activePageId, filters, sorts</a:t>
            </a:r>
            <a:br/>
            <a:r>
              <a:t>• AgentSidecar: Chat drawer &amp; Recharts cards</a:t>
            </a:r>
            <a:br/>
            <a:r>
              <a:t>• GenericPage: Dynamic synthetic view renderer</a:t>
            </a:r>
            <a:br/>
            <a:r>
              <a:t>• KPIInspector: Live trace &amp; latency inspector</a:t>
            </a:r>
            <a:br/>
            <a:r>
              <a:t>• Action Staggering Engine (~400ms)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2. Hybrid Retrieval Engine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FastAPI / retrieval.py</a:t>
            </a:r>
            <a:br/>
            <a:br/>
            <a:r>
              <a:t>• 90 Pages across 19 Nav Directories</a:t>
            </a:r>
            <a:br/>
            <a:r>
              <a:t>• SentenceTransformers all-MiniLM-L6-v2</a:t>
            </a:r>
            <a:br/>
            <a:r>
              <a:t>• Sublinear TF-IDF (1-2 ngrams)</a:t>
            </a:r>
            <a:br/>
            <a:r>
              <a:t>• Hybrid Score: 0.7*Dense + 0.3*Sparse</a:t>
            </a:r>
            <a:br/>
            <a:r>
              <a:t>• Warmup caching at startup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3. Agent Orchestrator &amp; LLM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FastAPI / agent.py &amp; llm.py</a:t>
            </a:r>
            <a:br/>
            <a:br/>
            <a:r>
              <a:t>• Multi-provider failover: Groq, Gemini, OpenRouter</a:t>
            </a:r>
            <a:br/>
            <a:r>
              <a:t>• Automated cooldown tracking (45s rate / 1h bad)</a:t>
            </a:r>
            <a:br/>
            <a:r>
              <a:t>• Multi-step tool loop (up to 4 steps)</a:t>
            </a:r>
            <a:br/>
            <a:r>
              <a:t>• Deterministic Regex Fallback Planner</a:t>
            </a:r>
            <a:br/>
            <a:r>
              <a:t>• Zero-hallucination catalog grounding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4. Analytics &amp; Action Guardrails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FastAPI / tools.py &amp; analytics.py</a:t>
            </a:r>
            <a:br/>
            <a:br/>
            <a:r>
              <a:t>• Strict OpenAPI tool validation</a:t>
            </a:r>
            <a:br/>
            <a:r>
              <a:t>• Pandas Aggregations (sum, mean, group-by)</a:t>
            </a:r>
            <a:br/>
            <a:r>
              <a:t>• Period-over-period waterfall analysis</a:t>
            </a:r>
            <a:br/>
            <a:r>
              <a:t>• Supporting delay signal correlations</a:t>
            </a:r>
            <a:br/>
            <a:r>
              <a:t>• Pending state-change confirmation tokens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INTERACTIVE UX &amp; ACTION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Dynamic Action Orchestration &amp; Visual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AetherOS Bridges Natural Language Intent Directly to UI Manipulation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⚡ Staggered Execution Engine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Actions returned by the backend are processed sequentially with a ~400ms pause, allowing the user to visually observe page transitions, filter updates, and chart rendering.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920240"/>
            <a:ext cx="3474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✨ Visual Ring Highlights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Whenever the agent sets a filter dropdown or sort selection, the element flashes with an emerald glowing ring and displays an 'Agent set this' badge for 2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920240"/>
            <a:ext cx="3474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366F1"/>
                </a:solidFill>
              </a:defRPr>
            </a:pPr>
            <a:r>
              <a:t>📈 Embedded Recharts Cards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Period-over-period comparison queries render summary KPI boxes (Value A, Value B, Delta, % Change) and driver bar charts directly inside the floating copilot drawer.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474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🛡️ Interactive Confirmation Dialogs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State-changing operations (such as provisioning sales territories) halt execution, generating a secure confirmation card with Confirm / Cancel actions calling the backend.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114800"/>
            <a:ext cx="3474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📑 Deep-Link Citations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Agent responses include interactive source chips (e.g. 'Source: Regional Sales Dashboard'). Clicking instantly routes the user to that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4114800"/>
            <a:ext cx="3474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🌐 90 Catalog Pages &amp; Tree Search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Features 6 rich core views and 84 synthetic views across 19 directories, complete with sidebar search and collapsible directory navigation.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DATA &amp; ANALYTICAL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Deterministic Analytics &amp; Planted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Pandas Aggregation Engine Eliminates LLM Numerical Hallucination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011680"/>
                <a:gridCol w="2194560"/>
                <a:gridCol w="2377440"/>
                <a:gridCol w="2864815"/>
              </a:tblGrid>
              <a:tr h="8595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Anomaly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Metric Analyzed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Period Comparison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Isolated Primary Driver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Ground Truth Cause &amp; Validation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Anomaly 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token_usage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July 2026 vs June 2026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Provider X (-30.5%)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Token consumption dropped due to localized traffic drop on Provider X.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Anomaly B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billed_revenue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Q2 2026 vs Q1 2026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Apex Global &amp; Titanium AI (-18.5%)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Billed revenue dipped because two large Enterprise customers churned.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Anomaly 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overdue_invoices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August 2026 vs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EMEA Hub (+$142,000 / +140%)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Localized surge in overdue invoices identified in the EMEA region.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Anomaly 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regional_sales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Q2 2025 vs Q1 2025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South Region Enterprise (-55%)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Delivery delay days spiked to 18.4 days, collapsing Enterprise deal renewals.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EMPIRICAL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Evaluation Suite &amp; Live KPI Inspector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Benchmarking Navigation, State Correctness &amp; End-to-End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📊 Automated Benchmark Suite (`eval.py`)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24 Labeled Evaluation Utterances (`eval_set.json`)</a:t>
            </a:r>
            <a:br/>
            <a:r>
              <a:t>• Intent-to-Destination Accuracy: 100.0% (Correct page target)</a:t>
            </a:r>
            <a:br/>
            <a:r>
              <a:t>• Filter Configuration Accuracy: 100.0% (Exact parameter match)</a:t>
            </a:r>
            <a:br/>
            <a:r>
              <a:t>• Sort Order Configuration Accuracy: 100.0%</a:t>
            </a:r>
            <a:br/>
            <a:r>
              <a:t>• Strict Multi-Step UI-State Accuracy: 100.0% (Nav + Filter + Sort)</a:t>
            </a:r>
            <a:br/>
            <a:r>
              <a:t>• Out-of-Scope Detection: 100.0% (Correctly rejects unrelated prompts)</a:t>
            </a:r>
            <a:br/>
            <a:r>
              <a:t>• Average End-to-End Latency: ~3,255 ms (Including LLM inference)</a:t>
            </a:r>
            <a:br/>
            <a:r>
              <a:t>• Hybrid Retrieval Accuracy: MRR@5 = 0.96 across 90 pages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920240"/>
            <a:ext cx="5166360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🔍 Live KPI Inspector (`KPIInspector.jsx`)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Real-Time Session Telemetry: Tracks total requests, cumulative steps, and average latency.</a:t>
            </a:r>
            <a:br/>
            <a:br/>
            <a:r>
              <a:t>• Top 5 Vector Retrieval Scores: Displays similarity scores (0.0 - 1.0) for candidate pages retrieved.</a:t>
            </a:r>
            <a:br/>
            <a:br/>
            <a:r>
              <a:t>• Tool Execution Trace Log: Shows every tool called (`navigate`, `set_filters`, etc.) with arguments and status.</a:t>
            </a:r>
            <a:br/>
            <a:br/>
            <a:r>
              <a:t>• Active Provider Diagnostics: Visualizes provider utilized (Groq, Gemini, OpenRouter, or Fallback).</a:t>
            </a:r>
            <a:br/>
            <a:br/>
            <a:r>
              <a:t>• Tool Call Validity Rate: Empirically measures % of error-free tool arguments.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MILESTONE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Deliverables &amp; Implementation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All 6 Core Requirements Implemented &amp; Verified in Application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59375"/>
                <a:gridCol w="1463040"/>
                <a:gridCol w="1097280"/>
              </a:tblGrid>
              <a:tr h="61395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Deliverable Module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Verified Implementation Scope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6B6D4"/>
                          </a:solidFill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1. Application Metadata Knowledge Graph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Standardized JSON catalog covering 90 pages, 19 directories, dynamic filters, and sort schemas.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2. Hybrid Semantic Retrieval (RAG)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SentenceTransformers all-MiniLM-L6-v2 + sublinear TF-IDF vectorizer indexing page metadata.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✔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3. Multi-Provider Agent Controller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FastAPI agent loop with Groq, Gemini, and OpenRouter failover plus deterministic fallback planner.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4. Deterministic Analytics Engine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Pandas engine performing group-by aggregations, period comparisons, and supporting signal detection.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✔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5. Interactive In-App Companion UX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Floating copilot sidecar with action staggering, Recharts charts, and glowing UI ring feedback.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6. Empirical Benchmark &amp; Trace Inspector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24-case automated benchmark suite + live KPI inspector modal displaying candidate similarity scores.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✔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● PRODUCTION READINESS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Internal Technical Audit &amp; Future-State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Path from Hackathon Prototype to Scalable, Database-Backed Enterprise SaaS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366F1"/>
                </a:solidFill>
              </a:defRPr>
            </a:pPr>
            <a:r>
              <a:t>Phase 1: Persistence Layer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PostgreSQL 16 System of Record</a:t>
            </a:r>
            <a:br/>
            <a:r>
              <a:t>• SQLAlchemy ORM + Alembic</a:t>
            </a:r>
            <a:br/>
            <a:r>
              <a:t>• Ingest CSVs into relational tables</a:t>
            </a:r>
            <a:br/>
            <a:r>
              <a:t>• Persist audit logs &amp; territories</a:t>
            </a:r>
            <a:br/>
            <a:r>
              <a:t>• Tenant isolation schemas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Phase 2: Redis State &amp; Async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Redis for distributed cooldowns</a:t>
            </a:r>
            <a:br/>
            <a:r>
              <a:t>• TTL-backed confirmation tokens</a:t>
            </a:r>
            <a:br/>
            <a:r>
              <a:t>• Async FastAPI (AsyncOpenAI)</a:t>
            </a:r>
            <a:br/>
            <a:r>
              <a:t>• Eliminate event loop blocking</a:t>
            </a:r>
            <a:br/>
            <a:r>
              <a:t>• Horizontal multi-worker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Phase 3: Security &amp; Multi-Tenancy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JWT Bearer Auth &amp; RBAC</a:t>
            </a:r>
            <a:br/>
            <a:r>
              <a:t>• Tenant discriminator RLS</a:t>
            </a:r>
            <a:br/>
            <a:r>
              <a:t>• Strict production CORS policies</a:t>
            </a:r>
            <a:br/>
            <a:r>
              <a:t>• Secret vault integration</a:t>
            </a:r>
            <a:br/>
            <a:r>
              <a:t>• Rate limiting per tenant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578608" cy="42976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Phase 4: pgvector &amp; Deploy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pgvector semantic retrieval</a:t>
            </a:r>
            <a:br/>
            <a:r>
              <a:t>• Offload embeddings to worker</a:t>
            </a:r>
            <a:br/>
            <a:r>
              <a:t>• Multi-stage Docker container</a:t>
            </a:r>
            <a:br/>
            <a:r>
              <a:t>• CI/CD automated test suite</a:t>
            </a:r>
            <a:br/>
            <a:r>
              <a:t>• Observability (OpenTelemetry)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
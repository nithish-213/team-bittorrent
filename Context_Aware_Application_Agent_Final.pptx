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F9DBF2E2-5ED2-180E-925D-7226579FEB33}">
          <p14:sldIdLst>
            <p14:sldId id="256"/>
          </p14:sldIdLst>
        </p14:section>
        <p14:section name="Problem Statement and Proposed Approach" id="{51821339-0292-BB4B-E1AB-167BB754175A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Key Performance Indicators" id="{B9AF111D-4E9E-EFB3-EFE2-279AD2319E48}">
          <p14:sldIdLst>
            <p14:sldId id="264"/>
          </p14:sldIdLst>
        </p14:section>
        <p14:section name="Expectations and Deliverables" id="{940AF760-A143-EFF3-AA9D-5B722DA24089}">
          <p14:sldIdLst>
            <p14:sldId id="265"/>
          </p14:sldIdLst>
        </p14:section>
        <p14:section name="Expected Outcomes" id="{67FF78B1-5140-9E61-40FD-C3BF8E562381}">
          <p14:sldIdLst>
            <p14:sldId id="266"/>
          </p14:sldIdLst>
        </p14:section>
        <p14:section name="Project Progress and Questions" id="{B1144D09-87B1-B9F2-4E4F-282F17B7BD8F}">
          <p14:sldIdLst>
            <p14:sldId id="267"/>
            <p14:sldId id="268"/>
          </p14:sldIdLst>
        </p14:section>
        <p14:section name="Closing" id="{02181F82-C2C1-E2AE-6C9D-CB1FC0DD7199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5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278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bracketed team placeholders with the actual team number, names and USNs before the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message: a chatbot only answers; the proposed agent understands the application structure and operates it. Walk the two flows at the bottom left to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capabilities: application interaction and analytical reasoning. The ten-step chain at the bottom is the central narrative of the whole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agent must not rely only on the LLM’s general knowledge. Metadata is organised into a store and a knowledge graph; a vector index retrieves relevant page and component descriptions semantically.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how one request becomes a structured intent. The plan is never executed unless it validates against the retrieved application metadata.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slide: the agent operates the application. Prefer direct APIs; Playwright is the fallback. Impactful changes need confirmation. Nothing outside the schema is ever attempted.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reaching the right page with the right UI state, the agent retrieves data, reasons over it and always attaches the supporting view as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in one to two minutes: request flows down through the layers, the agent consults the knowledge layer before acting, actions operate the application, and the response flows back up as contextual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map directly to the KPIs in the problem statement. No numerical targets are fixed yet; they will be established during benchmarking with the mentors.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what the project is expected to demonstrate. Right: the concrete artefacts that will be delivered. The final demo shows a request becoming a real application action and an analytical result.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expected outcomes of a proposed system. No measured improvement is claimed; results will be reported only after KPI benchmarking.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Ten sequential phases. All phases are shown as Planned; update a phase to Implemented only when the work is actually complete.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room for additional questions that come up during preparation.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731520" cy="710489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1371600"/>
            <a:ext cx="4754880" cy="1417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2880360"/>
            <a:ext cx="457200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accent4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pic>
        <p:nvPicPr>
          <p:cNvPr id="3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234440"/>
            <a:ext cx="731520" cy="710489"/>
          </a:xfrm>
          <a:prstGeom prst="rect">
            <a:avLst/>
          </a:prstGeom>
        </p:spPr>
      </p:pic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74320"/>
            <a:ext cx="585216" cy="5678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Problem Statement and Proposed Approach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KP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74320"/>
            <a:ext cx="585216" cy="5678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Key Performance Indicators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ELI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74320"/>
            <a:ext cx="585216" cy="5678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Expectations and Deliverables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74320"/>
            <a:ext cx="585216" cy="5678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Expected Outcomes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PROGR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74320"/>
            <a:ext cx="585216" cy="56784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548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Project Progress and Questions</a:t>
            </a:r>
            <a:endParaRPr lang="en-US" sz="1000" dirty="0"/>
          </a:p>
        </p:txBody>
      </p:sp>
      <p:sp>
        <p:nvSpPr>
          <p:cNvPr id="4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548640" y="1371600"/>
            <a:ext cx="47548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Context-Aware Application Agent</a:t>
            </a:r>
            <a:endParaRPr lang="en-US" sz="3600" dirty="0"/>
          </a:p>
        </p:txBody>
      </p:sp>
      <p:sp>
        <p:nvSpPr>
          <p:cNvPr id="3" name="Text 1"/>
          <p:cNvSpPr>
            <a:spLocks noGrp="1"/>
          </p:cNvSpPr>
          <p:nvPr>
            <p:ph type="body" idx="103" hasCustomPrompt="1"/>
          </p:nvPr>
        </p:nvSpPr>
        <p:spPr>
          <a:xfrm>
            <a:off x="548640" y="288036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1600" dirty="0">
                <a:solidFill>
                  <a:schemeClr val="accent4"/>
                </a:solidFill>
              </a:rPr>
              <a:t>Natural-Language Agent for Navigation, Application Control and Business Data Analysis</a:t>
            </a:r>
            <a:endParaRPr lang="en-US" sz="1600" dirty="0"/>
          </a:p>
        </p:txBody>
      </p:sp>
      <p:sp>
        <p:nvSpPr>
          <p:cNvPr id="4" name="TeamCard_1"/>
          <p:cNvSpPr/>
          <p:nvPr/>
        </p:nvSpPr>
        <p:spPr>
          <a:xfrm>
            <a:off x="5430559" y="1371600"/>
            <a:ext cx="3164801" cy="324612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/>
        </p:spPr>
      </p:sp>
      <p:sp>
        <p:nvSpPr>
          <p:cNvPr id="5" name="Text_2"/>
          <p:cNvSpPr txBox="1"/>
          <p:nvPr/>
        </p:nvSpPr>
        <p:spPr>
          <a:xfrm>
            <a:off x="5623559" y="15087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TEAM DETAILS : TEAM [XX]</a:t>
            </a:r>
            <a:endParaRPr lang="en-US" sz="1200" dirty="0"/>
          </a:p>
        </p:txBody>
      </p:sp>
      <p:graphicFrame>
        <p:nvGraphicFramePr>
          <p:cNvPr id="6" name="Team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6387248"/>
              </p:ext>
            </p:extLst>
          </p:nvPr>
        </p:nvGraphicFramePr>
        <p:xfrm>
          <a:off x="5623559" y="1780290"/>
          <a:ext cx="2778799" cy="2700270"/>
        </p:xfrm>
        <a:graphic>
          <a:graphicData uri="http://schemas.openxmlformats.org/drawingml/2006/table">
            <a:tbl>
              <a:tblPr/>
              <a:tblGrid>
                <a:gridCol w="1545058"/>
                <a:gridCol w="1233741"/>
              </a:tblGrid>
              <a:tr h="45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chemeClr val="bg1"/>
                          </a:solidFill>
                        </a:rPr>
                        <a:t>Suleman</a:t>
                      </a:r>
                      <a:r>
                        <a:rPr lang="en-US" sz="11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chemeClr val="bg1"/>
                          </a:solidFill>
                        </a:rPr>
                        <a:t>Agasimani</a:t>
                      </a:r>
                      <a:endParaRPr lang="en-US" sz="11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chemeClr val="accent4"/>
                          </a:solidFill>
                        </a:rPr>
                        <a:t>01fe23bci071</a:t>
                      </a:r>
                      <a:endParaRPr lang="en-US" sz="11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J </a:t>
                      </a:r>
                      <a:r>
                        <a:rPr lang="en-US" sz="1100" dirty="0" err="1" smtClean="0">
                          <a:solidFill>
                            <a:schemeClr val="bg1"/>
                          </a:solidFill>
                        </a:rPr>
                        <a:t>Nithish</a:t>
                      </a:r>
                      <a:endParaRPr lang="en-US" sz="11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chemeClr val="accent4"/>
                          </a:solidFill>
                        </a:rPr>
                        <a:t>01fe23bci069</a:t>
                      </a:r>
                      <a:endParaRPr lang="en-US" sz="11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chemeClr val="bg1"/>
                          </a:solidFill>
                        </a:rPr>
                        <a:t>Swajeet</a:t>
                      </a:r>
                      <a:r>
                        <a:rPr lang="en-US" sz="1100" baseline="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100" baseline="0" dirty="0" err="1" smtClean="0">
                          <a:solidFill>
                            <a:schemeClr val="bg1"/>
                          </a:solidFill>
                        </a:rPr>
                        <a:t>Chikhali</a:t>
                      </a:r>
                      <a:endParaRPr lang="en-US" sz="11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chemeClr val="accent4"/>
                          </a:solidFill>
                        </a:rPr>
                        <a:t>01fe23bci070</a:t>
                      </a:r>
                      <a:endParaRPr lang="en-US" sz="11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chemeClr val="bg1"/>
                          </a:solidFill>
                        </a:rPr>
                        <a:t>Saideep</a:t>
                      </a:r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100" dirty="0" err="1" smtClean="0">
                          <a:solidFill>
                            <a:schemeClr val="bg1"/>
                          </a:solidFill>
                        </a:rPr>
                        <a:t>Nayak</a:t>
                      </a:r>
                      <a:endParaRPr lang="en-US" sz="11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chemeClr val="accent4"/>
                          </a:solidFill>
                        </a:rPr>
                        <a:t>01fe23bci072</a:t>
                      </a:r>
                      <a:endParaRPr lang="en-US" sz="11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chemeClr val="bg1"/>
                          </a:solidFill>
                        </a:rPr>
                        <a:t>Parth</a:t>
                      </a:r>
                      <a:r>
                        <a:rPr lang="en-US" sz="1100" dirty="0" smtClean="0">
                          <a:solidFill>
                            <a:schemeClr val="bg1"/>
                          </a:solidFill>
                        </a:rPr>
                        <a:t> P H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04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err="1" smtClean="0">
                          <a:solidFill>
                            <a:schemeClr val="bg1"/>
                          </a:solidFill>
                        </a:rPr>
                        <a:t>Rohit</a:t>
                      </a:r>
                      <a:r>
                        <a:rPr lang="en-US" sz="1100" baseline="0" dirty="0" smtClean="0">
                          <a:solidFill>
                            <a:schemeClr val="bg1"/>
                          </a:solidFill>
                        </a:rPr>
                        <a:t> Y</a:t>
                      </a:r>
                      <a:endParaRPr lang="en-US" sz="1100" dirty="0">
                        <a:solidFill>
                          <a:schemeClr val="bg1"/>
                        </a:solidFill>
                      </a:endParaRPr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 smtClean="0">
                          <a:solidFill>
                            <a:schemeClr val="accent4"/>
                          </a:solidFill>
                        </a:rPr>
                        <a:t>01fe23bci001</a:t>
                      </a:r>
                      <a:endParaRPr lang="en-US" sz="11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657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_3"/>
          <p:cNvSpPr txBox="1"/>
          <p:nvPr/>
        </p:nvSpPr>
        <p:spPr>
          <a:xfrm>
            <a:off x="548640" y="4343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Mentor Project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Problem and Motivation</a:t>
            </a:r>
            <a:endParaRPr lang="en-US" sz="2600" dirty="0"/>
          </a:p>
        </p:txBody>
      </p:sp>
      <p:sp>
        <p:nvSpPr>
          <p:cNvPr id="4" name="Point_4"/>
          <p:cNvSpPr/>
          <p:nvPr/>
        </p:nvSpPr>
        <p:spPr>
          <a:xfrm>
            <a:off x="457200" y="1097280"/>
            <a:ext cx="4023360" cy="1143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5" name="Badge_5"/>
          <p:cNvSpPr txBox="1"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6" name="Text_6"/>
          <p:cNvSpPr txBox="1"/>
          <p:nvPr/>
        </p:nvSpPr>
        <p:spPr>
          <a:xfrm>
            <a:off x="1143000" y="1234440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Scale of the application: </a:t>
            </a:r>
            <a:r>
              <a:rPr lang="en-US" sz="1150" dirty="0">
                <a:solidFill>
                  <a:schemeClr val="tx1"/>
                </a:solidFill>
              </a:rPr>
              <a:t>a no-code business application can hold hundreds of pages, dashboards, reports, grids, widgets, charts, filters, date ranges and sort options.</a:t>
            </a:r>
            <a:endParaRPr lang="en-US" sz="1150" dirty="0"/>
          </a:p>
        </p:txBody>
      </p:sp>
      <p:sp>
        <p:nvSpPr>
          <p:cNvPr id="7" name="Point_7"/>
          <p:cNvSpPr/>
          <p:nvPr/>
        </p:nvSpPr>
        <p:spPr>
          <a:xfrm>
            <a:off x="4663440" y="1097280"/>
            <a:ext cx="4023360" cy="1143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8" name="Badge_8"/>
          <p:cNvSpPr txBox="1"/>
          <p:nvPr/>
        </p:nvSpPr>
        <p:spPr>
          <a:xfrm>
            <a:off x="4846320" y="1280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9" name="Text_9"/>
          <p:cNvSpPr txBox="1"/>
          <p:nvPr/>
        </p:nvSpPr>
        <p:spPr>
          <a:xfrm>
            <a:off x="5349240" y="1234440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Manual effort: </a:t>
            </a:r>
            <a:r>
              <a:rPr lang="en-US" sz="1150" dirty="0">
                <a:solidFill>
                  <a:schemeClr val="tx1"/>
                </a:solidFill>
              </a:rPr>
              <a:t>users must learn the navigation paths, find the right report, configure the UI state and then analyse the data themselves.</a:t>
            </a:r>
            <a:endParaRPr lang="en-US" sz="1150" dirty="0"/>
          </a:p>
        </p:txBody>
      </p:sp>
      <p:sp>
        <p:nvSpPr>
          <p:cNvPr id="10" name="Point_10"/>
          <p:cNvSpPr/>
          <p:nvPr/>
        </p:nvSpPr>
        <p:spPr>
          <a:xfrm>
            <a:off x="457200" y="2377440"/>
            <a:ext cx="4023360" cy="1143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1" name="Badge_11"/>
          <p:cNvSpPr txBox="1"/>
          <p:nvPr/>
        </p:nvSpPr>
        <p:spPr>
          <a:xfrm>
            <a:off x="640080" y="25603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12" name="Text_12"/>
          <p:cNvSpPr txBox="1"/>
          <p:nvPr/>
        </p:nvSpPr>
        <p:spPr>
          <a:xfrm>
            <a:off x="1143000" y="2514600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Gap in chatbots: </a:t>
            </a:r>
            <a:r>
              <a:rPr lang="en-US" sz="1150" dirty="0">
                <a:solidFill>
                  <a:schemeClr val="tx1"/>
                </a:solidFill>
              </a:rPr>
              <a:t>a textual answer does not operate the application, nor guarantee the right page, report, filters or UI state.</a:t>
            </a:r>
            <a:endParaRPr lang="en-US" sz="1150" dirty="0"/>
          </a:p>
        </p:txBody>
      </p:sp>
      <p:sp>
        <p:nvSpPr>
          <p:cNvPr id="13" name="Point_13"/>
          <p:cNvSpPr/>
          <p:nvPr/>
        </p:nvSpPr>
        <p:spPr>
          <a:xfrm>
            <a:off x="4663440" y="2377440"/>
            <a:ext cx="4023360" cy="1143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4" name="Badge_14"/>
          <p:cNvSpPr txBox="1"/>
          <p:nvPr/>
        </p:nvSpPr>
        <p:spPr>
          <a:xfrm>
            <a:off x="4846320" y="25603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_15"/>
          <p:cNvSpPr txBox="1"/>
          <p:nvPr/>
        </p:nvSpPr>
        <p:spPr>
          <a:xfrm>
            <a:off x="5349240" y="2514600"/>
            <a:ext cx="32004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Proposed bridge: </a:t>
            </a:r>
            <a:r>
              <a:rPr lang="en-US" sz="1150" dirty="0">
                <a:solidFill>
                  <a:schemeClr val="tx1"/>
                </a:solidFill>
              </a:rPr>
              <a:t>an agent that understands both the user’s intent and the application’s internal structure.</a:t>
            </a:r>
            <a:endParaRPr lang="en-US" sz="1150" dirty="0"/>
          </a:p>
        </p:txBody>
      </p:sp>
      <p:sp>
        <p:nvSpPr>
          <p:cNvPr id="16" name="Text_16"/>
          <p:cNvSpPr txBox="1"/>
          <p:nvPr/>
        </p:nvSpPr>
        <p:spPr>
          <a:xfrm>
            <a:off x="457200" y="368503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2"/>
                </a:solidFill>
              </a:rPr>
              <a:t>Conventional interaction</a:t>
            </a:r>
            <a:endParaRPr lang="en-US" sz="1100" dirty="0"/>
          </a:p>
        </p:txBody>
      </p:sp>
      <p:sp>
        <p:nvSpPr>
          <p:cNvPr id="17" name="Chip_17"/>
          <p:cNvSpPr txBox="1"/>
          <p:nvPr/>
        </p:nvSpPr>
        <p:spPr>
          <a:xfrm>
            <a:off x="1783080" y="3685032"/>
            <a:ext cx="98298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User</a:t>
            </a:r>
            <a:endParaRPr lang="en-US" sz="1050" dirty="0"/>
          </a:p>
        </p:txBody>
      </p:sp>
      <p:sp>
        <p:nvSpPr>
          <p:cNvPr id="18" name="Text_18"/>
          <p:cNvSpPr txBox="1"/>
          <p:nvPr/>
        </p:nvSpPr>
        <p:spPr>
          <a:xfrm>
            <a:off x="2766060" y="368503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9" name="Chip_19"/>
          <p:cNvSpPr txBox="1"/>
          <p:nvPr/>
        </p:nvSpPr>
        <p:spPr>
          <a:xfrm>
            <a:off x="2967228" y="3685032"/>
            <a:ext cx="98298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Manual Navigation</a:t>
            </a:r>
            <a:endParaRPr lang="en-US" sz="1050" dirty="0"/>
          </a:p>
        </p:txBody>
      </p:sp>
      <p:sp>
        <p:nvSpPr>
          <p:cNvPr id="20" name="Text_20"/>
          <p:cNvSpPr txBox="1"/>
          <p:nvPr/>
        </p:nvSpPr>
        <p:spPr>
          <a:xfrm>
            <a:off x="3950208" y="368503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21" name="Chip_21"/>
          <p:cNvSpPr txBox="1"/>
          <p:nvPr/>
        </p:nvSpPr>
        <p:spPr>
          <a:xfrm>
            <a:off x="4151376" y="3685032"/>
            <a:ext cx="98298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Page</a:t>
            </a:r>
            <a:endParaRPr lang="en-US" sz="1050" dirty="0"/>
          </a:p>
        </p:txBody>
      </p:sp>
      <p:sp>
        <p:nvSpPr>
          <p:cNvPr id="22" name="Text_22"/>
          <p:cNvSpPr txBox="1"/>
          <p:nvPr/>
        </p:nvSpPr>
        <p:spPr>
          <a:xfrm>
            <a:off x="5134356" y="368503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Chip_23"/>
          <p:cNvSpPr txBox="1"/>
          <p:nvPr/>
        </p:nvSpPr>
        <p:spPr>
          <a:xfrm>
            <a:off x="5335524" y="3685032"/>
            <a:ext cx="98298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Filters</a:t>
            </a:r>
            <a:endParaRPr lang="en-US" sz="1050" dirty="0"/>
          </a:p>
        </p:txBody>
      </p:sp>
      <p:sp>
        <p:nvSpPr>
          <p:cNvPr id="24" name="Text_24"/>
          <p:cNvSpPr txBox="1"/>
          <p:nvPr/>
        </p:nvSpPr>
        <p:spPr>
          <a:xfrm>
            <a:off x="6318504" y="368503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25" name="Chip_25"/>
          <p:cNvSpPr txBox="1"/>
          <p:nvPr/>
        </p:nvSpPr>
        <p:spPr>
          <a:xfrm>
            <a:off x="6519672" y="3685032"/>
            <a:ext cx="98298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Data</a:t>
            </a:r>
            <a:endParaRPr lang="en-US" sz="1050" dirty="0"/>
          </a:p>
        </p:txBody>
      </p:sp>
      <p:sp>
        <p:nvSpPr>
          <p:cNvPr id="26" name="Text_26"/>
          <p:cNvSpPr txBox="1"/>
          <p:nvPr/>
        </p:nvSpPr>
        <p:spPr>
          <a:xfrm>
            <a:off x="7502652" y="3685032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27" name="Chip_27"/>
          <p:cNvSpPr txBox="1"/>
          <p:nvPr/>
        </p:nvSpPr>
        <p:spPr>
          <a:xfrm>
            <a:off x="7703820" y="3685032"/>
            <a:ext cx="98298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Analysis</a:t>
            </a:r>
            <a:endParaRPr lang="en-US" sz="1050" dirty="0"/>
          </a:p>
        </p:txBody>
      </p:sp>
      <p:sp>
        <p:nvSpPr>
          <p:cNvPr id="28" name="Text_28"/>
          <p:cNvSpPr txBox="1"/>
          <p:nvPr/>
        </p:nvSpPr>
        <p:spPr>
          <a:xfrm>
            <a:off x="457200" y="420624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Proposed agent</a:t>
            </a:r>
            <a:endParaRPr lang="en-US" sz="1100" dirty="0"/>
          </a:p>
        </p:txBody>
      </p:sp>
      <p:sp>
        <p:nvSpPr>
          <p:cNvPr id="29" name="Chip_29"/>
          <p:cNvSpPr txBox="1"/>
          <p:nvPr/>
        </p:nvSpPr>
        <p:spPr>
          <a:xfrm>
            <a:off x="1783080" y="4206240"/>
            <a:ext cx="982980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User</a:t>
            </a:r>
            <a:endParaRPr lang="en-US" sz="1050" dirty="0"/>
          </a:p>
        </p:txBody>
      </p:sp>
      <p:sp>
        <p:nvSpPr>
          <p:cNvPr id="30" name="Text_30"/>
          <p:cNvSpPr txBox="1"/>
          <p:nvPr/>
        </p:nvSpPr>
        <p:spPr>
          <a:xfrm>
            <a:off x="2766060" y="420624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31" name="Chip_31"/>
          <p:cNvSpPr txBox="1"/>
          <p:nvPr/>
        </p:nvSpPr>
        <p:spPr>
          <a:xfrm>
            <a:off x="2967228" y="4206240"/>
            <a:ext cx="2286000" cy="384048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Context-Aware Agent</a:t>
            </a:r>
            <a:endParaRPr lang="en-US" sz="1050" dirty="0"/>
          </a:p>
        </p:txBody>
      </p:sp>
      <p:sp>
        <p:nvSpPr>
          <p:cNvPr id="32" name="Text_32"/>
          <p:cNvSpPr txBox="1"/>
          <p:nvPr/>
        </p:nvSpPr>
        <p:spPr>
          <a:xfrm>
            <a:off x="5253228" y="4206240"/>
            <a:ext cx="201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33" name="Chip_33"/>
          <p:cNvSpPr txBox="1"/>
          <p:nvPr/>
        </p:nvSpPr>
        <p:spPr>
          <a:xfrm>
            <a:off x="5454396" y="4206240"/>
            <a:ext cx="3232404" cy="384048"/>
          </a:xfrm>
          <a:prstGeom prst="roundRect">
            <a:avLst>
              <a:gd name="adj" fmla="val 14286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Correct Page + UI State + Data + Analysis</a:t>
            </a:r>
            <a:endParaRPr lang="en-US" sz="10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Proposed System Overview</a:t>
            </a:r>
            <a:endParaRPr lang="en-US" sz="2600" dirty="0"/>
          </a:p>
        </p:txBody>
      </p:sp>
      <p:sp>
        <p:nvSpPr>
          <p:cNvPr id="4" name="Text_34"/>
          <p:cNvSpPr txBox="1"/>
          <p:nvPr/>
        </p:nvSpPr>
        <p:spPr>
          <a:xfrm>
            <a:off x="457200" y="109728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An intelligent layer between the user and the no-code application. It interprets the request, grounds it in application metadata, operates the application and reasons over its data.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1. Application interaction: </a:t>
            </a:r>
            <a:r>
              <a:rPr lang="en-US" sz="1200" dirty="0">
                <a:solidFill>
                  <a:schemeClr val="tx1"/>
                </a:solidFill>
              </a:rPr>
              <a:t>navigate, select widgets, set filters, date ranges and sorting.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2. Analytical reasoning: </a:t>
            </a:r>
            <a:r>
              <a:rPr lang="en-US" sz="1200" dirty="0">
                <a:solidFill>
                  <a:schemeClr val="tx1"/>
                </a:solidFill>
              </a:rPr>
              <a:t>retrieve data, compare periods, detect trends, explain likely causes.</a:t>
            </a:r>
            <a:endParaRPr lang="en-US" sz="1200" dirty="0"/>
          </a:p>
        </p:txBody>
      </p:sp>
      <p:sp>
        <p:nvSpPr>
          <p:cNvPr id="5" name="Examples_35"/>
          <p:cNvSpPr/>
          <p:nvPr/>
        </p:nvSpPr>
        <p:spPr>
          <a:xfrm>
            <a:off x="5669280" y="1097280"/>
            <a:ext cx="3017520" cy="178308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</p:spPr>
      </p:sp>
      <p:sp>
        <p:nvSpPr>
          <p:cNvPr id="6" name="Text_36"/>
          <p:cNvSpPr txBox="1"/>
          <p:nvPr/>
        </p:nvSpPr>
        <p:spPr>
          <a:xfrm>
            <a:off x="585216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Example requests</a:t>
            </a:r>
            <a:endParaRPr lang="en-US" sz="1300" dirty="0"/>
          </a:p>
        </p:txBody>
      </p:sp>
      <p:sp>
        <p:nvSpPr>
          <p:cNvPr id="7" name="Text_37"/>
          <p:cNvSpPr txBox="1"/>
          <p:nvPr/>
        </p:nvSpPr>
        <p:spPr>
          <a:xfrm>
            <a:off x="5852160" y="1572768"/>
            <a:ext cx="26517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chemeClr val="tx1"/>
                </a:solidFill>
              </a:rPr>
              <a:t>“Show me the sales performance for the last quarter and compare it with the previous quarter”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i="1" dirty="0">
                <a:solidFill>
                  <a:schemeClr val="tx1"/>
                </a:solidFill>
              </a:rPr>
              <a:t>“Open the regional sales dashboard and filter it to Karnataka for this year”</a:t>
            </a:r>
            <a:endParaRPr lang="en-US" sz="1200" dirty="0"/>
          </a:p>
        </p:txBody>
      </p:sp>
      <p:sp>
        <p:nvSpPr>
          <p:cNvPr id="8" name="Chip_38"/>
          <p:cNvSpPr txBox="1"/>
          <p:nvPr/>
        </p:nvSpPr>
        <p:spPr>
          <a:xfrm>
            <a:off x="457200" y="301752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  User</a:t>
            </a:r>
            <a:endParaRPr lang="en-US" sz="1100" dirty="0"/>
          </a:p>
        </p:txBody>
      </p:sp>
      <p:sp>
        <p:nvSpPr>
          <p:cNvPr id="9" name="Text_39"/>
          <p:cNvSpPr txBox="1"/>
          <p:nvPr/>
        </p:nvSpPr>
        <p:spPr>
          <a:xfrm>
            <a:off x="1920240" y="30175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0" name="Chip_40"/>
          <p:cNvSpPr txBox="1"/>
          <p:nvPr/>
        </p:nvSpPr>
        <p:spPr>
          <a:xfrm>
            <a:off x="2148840" y="301752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2  Conversational Interface</a:t>
            </a:r>
            <a:endParaRPr lang="en-US" sz="1100" dirty="0"/>
          </a:p>
        </p:txBody>
      </p:sp>
      <p:sp>
        <p:nvSpPr>
          <p:cNvPr id="11" name="Text_41"/>
          <p:cNvSpPr txBox="1"/>
          <p:nvPr/>
        </p:nvSpPr>
        <p:spPr>
          <a:xfrm>
            <a:off x="3611880" y="30175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Chip_42"/>
          <p:cNvSpPr txBox="1"/>
          <p:nvPr/>
        </p:nvSpPr>
        <p:spPr>
          <a:xfrm>
            <a:off x="3840480" y="301752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  Intent Understanding</a:t>
            </a:r>
            <a:endParaRPr lang="en-US" sz="1100" dirty="0"/>
          </a:p>
        </p:txBody>
      </p:sp>
      <p:sp>
        <p:nvSpPr>
          <p:cNvPr id="13" name="Text_43"/>
          <p:cNvSpPr txBox="1"/>
          <p:nvPr/>
        </p:nvSpPr>
        <p:spPr>
          <a:xfrm>
            <a:off x="5303520" y="30175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Chip_44"/>
          <p:cNvSpPr txBox="1"/>
          <p:nvPr/>
        </p:nvSpPr>
        <p:spPr>
          <a:xfrm>
            <a:off x="5532120" y="301752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  Metadata / RAG Retrieval</a:t>
            </a:r>
            <a:endParaRPr lang="en-US" sz="1100" dirty="0"/>
          </a:p>
        </p:txBody>
      </p:sp>
      <p:sp>
        <p:nvSpPr>
          <p:cNvPr id="15" name="Text_45"/>
          <p:cNvSpPr txBox="1"/>
          <p:nvPr/>
        </p:nvSpPr>
        <p:spPr>
          <a:xfrm>
            <a:off x="6995160" y="301752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6" name="Chip_46"/>
          <p:cNvSpPr txBox="1"/>
          <p:nvPr/>
        </p:nvSpPr>
        <p:spPr>
          <a:xfrm>
            <a:off x="7223760" y="301752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  Agent Planner</a:t>
            </a:r>
            <a:endParaRPr lang="en-US" sz="1100" dirty="0"/>
          </a:p>
        </p:txBody>
      </p:sp>
      <p:sp>
        <p:nvSpPr>
          <p:cNvPr id="17" name="Chip_47"/>
          <p:cNvSpPr txBox="1"/>
          <p:nvPr/>
        </p:nvSpPr>
        <p:spPr>
          <a:xfrm>
            <a:off x="457200" y="374904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1"/>
                </a:solidFill>
              </a:rPr>
              <a:t>10  Contextual Response</a:t>
            </a:r>
            <a:endParaRPr lang="en-US" sz="1100" dirty="0"/>
          </a:p>
        </p:txBody>
      </p:sp>
      <p:sp>
        <p:nvSpPr>
          <p:cNvPr id="18" name="Text_48"/>
          <p:cNvSpPr txBox="1"/>
          <p:nvPr/>
        </p:nvSpPr>
        <p:spPr>
          <a:xfrm>
            <a:off x="1920240" y="374904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‹</a:t>
            </a:r>
            <a:endParaRPr lang="en-US" sz="1800" dirty="0"/>
          </a:p>
        </p:txBody>
      </p:sp>
      <p:sp>
        <p:nvSpPr>
          <p:cNvPr id="19" name="Chip_49"/>
          <p:cNvSpPr txBox="1"/>
          <p:nvPr/>
        </p:nvSpPr>
        <p:spPr>
          <a:xfrm>
            <a:off x="2148840" y="374904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9  Analytical Reasoning</a:t>
            </a:r>
            <a:endParaRPr lang="en-US" sz="1100" dirty="0"/>
          </a:p>
        </p:txBody>
      </p:sp>
      <p:sp>
        <p:nvSpPr>
          <p:cNvPr id="20" name="Text_50"/>
          <p:cNvSpPr txBox="1"/>
          <p:nvPr/>
        </p:nvSpPr>
        <p:spPr>
          <a:xfrm>
            <a:off x="3611880" y="374904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‹</a:t>
            </a:r>
            <a:endParaRPr lang="en-US" sz="1800" dirty="0"/>
          </a:p>
        </p:txBody>
      </p:sp>
      <p:sp>
        <p:nvSpPr>
          <p:cNvPr id="21" name="Chip_51"/>
          <p:cNvSpPr txBox="1"/>
          <p:nvPr/>
        </p:nvSpPr>
        <p:spPr>
          <a:xfrm>
            <a:off x="3840480" y="374904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8  Data Retrieval</a:t>
            </a:r>
            <a:endParaRPr lang="en-US" sz="1100" dirty="0"/>
          </a:p>
        </p:txBody>
      </p:sp>
      <p:sp>
        <p:nvSpPr>
          <p:cNvPr id="22" name="Text_52"/>
          <p:cNvSpPr txBox="1"/>
          <p:nvPr/>
        </p:nvSpPr>
        <p:spPr>
          <a:xfrm>
            <a:off x="5303520" y="374904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‹</a:t>
            </a:r>
            <a:endParaRPr lang="en-US" sz="1800" dirty="0"/>
          </a:p>
        </p:txBody>
      </p:sp>
      <p:sp>
        <p:nvSpPr>
          <p:cNvPr id="23" name="Chip_53"/>
          <p:cNvSpPr txBox="1"/>
          <p:nvPr/>
        </p:nvSpPr>
        <p:spPr>
          <a:xfrm>
            <a:off x="5532120" y="374904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  No-Code Application</a:t>
            </a:r>
            <a:endParaRPr lang="en-US" sz="1100" dirty="0"/>
          </a:p>
        </p:txBody>
      </p:sp>
      <p:sp>
        <p:nvSpPr>
          <p:cNvPr id="24" name="Text_54"/>
          <p:cNvSpPr txBox="1"/>
          <p:nvPr/>
        </p:nvSpPr>
        <p:spPr>
          <a:xfrm>
            <a:off x="6995160" y="3749040"/>
            <a:ext cx="228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‹</a:t>
            </a:r>
            <a:endParaRPr lang="en-US" sz="1800" dirty="0"/>
          </a:p>
        </p:txBody>
      </p:sp>
      <p:sp>
        <p:nvSpPr>
          <p:cNvPr id="25" name="Chip_55"/>
          <p:cNvSpPr txBox="1"/>
          <p:nvPr/>
        </p:nvSpPr>
        <p:spPr>
          <a:xfrm>
            <a:off x="7223760" y="3749040"/>
            <a:ext cx="1463040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  Tool / Action Layer</a:t>
            </a:r>
            <a:endParaRPr lang="en-US" sz="1100" dirty="0"/>
          </a:p>
        </p:txBody>
      </p:sp>
      <p:sp>
        <p:nvSpPr>
          <p:cNvPr id="26" name="Text_56"/>
          <p:cNvSpPr txBox="1"/>
          <p:nvPr/>
        </p:nvSpPr>
        <p:spPr>
          <a:xfrm>
            <a:off x="7223760" y="35295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accent3"/>
                </a:solidFill>
              </a:rPr>
              <a:t>↓</a:t>
            </a:r>
            <a:endParaRPr lang="en-US" sz="1200" dirty="0"/>
          </a:p>
        </p:txBody>
      </p:sp>
      <p:sp>
        <p:nvSpPr>
          <p:cNvPr id="27" name="Key_57"/>
          <p:cNvSpPr/>
          <p:nvPr/>
        </p:nvSpPr>
        <p:spPr>
          <a:xfrm>
            <a:off x="457200" y="4434840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accent4"/>
          </a:solidFill>
          <a:ln/>
        </p:spPr>
      </p:sp>
      <p:sp>
        <p:nvSpPr>
          <p:cNvPr id="28" name="Text_58"/>
          <p:cNvSpPr txBox="1"/>
          <p:nvPr/>
        </p:nvSpPr>
        <p:spPr>
          <a:xfrm>
            <a:off x="676656" y="4389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</a:rPr>
              <a:t>User-facing</a:t>
            </a:r>
            <a:endParaRPr lang="en-US" sz="1050" dirty="0"/>
          </a:p>
        </p:txBody>
      </p:sp>
      <p:sp>
        <p:nvSpPr>
          <p:cNvPr id="29" name="Key_59"/>
          <p:cNvSpPr/>
          <p:nvPr/>
        </p:nvSpPr>
        <p:spPr>
          <a:xfrm>
            <a:off x="2011680" y="4434840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30" name="Text_60"/>
          <p:cNvSpPr txBox="1"/>
          <p:nvPr/>
        </p:nvSpPr>
        <p:spPr>
          <a:xfrm>
            <a:off x="2231136" y="4389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</a:rPr>
              <a:t>Agent / AI reasoning</a:t>
            </a:r>
            <a:endParaRPr lang="en-US" sz="1050" dirty="0"/>
          </a:p>
        </p:txBody>
      </p:sp>
      <p:sp>
        <p:nvSpPr>
          <p:cNvPr id="31" name="Key_61"/>
          <p:cNvSpPr/>
          <p:nvPr/>
        </p:nvSpPr>
        <p:spPr>
          <a:xfrm>
            <a:off x="4297680" y="4434840"/>
            <a:ext cx="146304" cy="146304"/>
          </a:xfrm>
          <a:prstGeom prst="roundRect">
            <a:avLst>
              <a:gd name="adj" fmla="val 18750"/>
            </a:avLst>
          </a:prstGeom>
          <a:solidFill>
            <a:schemeClr val="tx2"/>
          </a:solidFill>
          <a:ln/>
        </p:spPr>
      </p:sp>
      <p:sp>
        <p:nvSpPr>
          <p:cNvPr id="32" name="Text_62"/>
          <p:cNvSpPr txBox="1"/>
          <p:nvPr/>
        </p:nvSpPr>
        <p:spPr>
          <a:xfrm>
            <a:off x="4517136" y="4389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chemeClr val="accent2"/>
                </a:solidFill>
              </a:rPr>
              <a:t>Application and data access</a:t>
            </a:r>
            <a:endParaRPr lang="en-US" sz="10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Application Metadata Layer</a:t>
            </a:r>
            <a:endParaRPr lang="en-US" sz="2600" dirty="0"/>
          </a:p>
        </p:txBody>
      </p:sp>
      <p:sp>
        <p:nvSpPr>
          <p:cNvPr id="4" name="Panel_63"/>
          <p:cNvSpPr/>
          <p:nvPr/>
        </p:nvSpPr>
        <p:spPr>
          <a:xfrm>
            <a:off x="457200" y="1097280"/>
            <a:ext cx="3017520" cy="2514600"/>
          </a:xfrm>
          <a:prstGeom prst="roundRect">
            <a:avLst>
              <a:gd name="adj" fmla="val 2182"/>
            </a:avLst>
          </a:prstGeom>
          <a:solidFill>
            <a:schemeClr val="bg2"/>
          </a:solidFill>
          <a:ln/>
        </p:spPr>
      </p:sp>
      <p:sp>
        <p:nvSpPr>
          <p:cNvPr id="5" name="Text_64"/>
          <p:cNvSpPr txBox="1"/>
          <p:nvPr/>
        </p:nvSpPr>
        <p:spPr>
          <a:xfrm>
            <a:off x="640080" y="12344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Application metadata provided</a:t>
            </a:r>
            <a:endParaRPr lang="en-US" sz="1300" dirty="0"/>
          </a:p>
        </p:txBody>
      </p:sp>
      <p:sp>
        <p:nvSpPr>
          <p:cNvPr id="6" name="Text_65"/>
          <p:cNvSpPr txBox="1"/>
          <p:nvPr/>
        </p:nvSpPr>
        <p:spPr>
          <a:xfrm>
            <a:off x="640080" y="1600200"/>
            <a:ext cx="2651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Navigation hierarchies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Directories and subdirectories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Page and widget catalogs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Data-view, grid, chart and filter schemas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Component and UI-state definitions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Filters, date ranges and sort options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Routing / deep-link maps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Underlying business data</a:t>
            </a:r>
            <a:endParaRPr lang="en-US" sz="1200" dirty="0"/>
          </a:p>
        </p:txBody>
      </p:sp>
      <p:sp>
        <p:nvSpPr>
          <p:cNvPr id="7" name="Text_66"/>
          <p:cNvSpPr txBox="1"/>
          <p:nvPr/>
        </p:nvSpPr>
        <p:spPr>
          <a:xfrm>
            <a:off x="374904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Metadata store and knowledge graph</a:t>
            </a:r>
            <a:endParaRPr lang="en-US" sz="1300" dirty="0"/>
          </a:p>
        </p:txBody>
      </p:sp>
      <p:sp>
        <p:nvSpPr>
          <p:cNvPr id="8" name="Text_67"/>
          <p:cNvSpPr txBox="1"/>
          <p:nvPr/>
        </p:nvSpPr>
        <p:spPr>
          <a:xfrm>
            <a:off x="6675120" y="1097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Linked resources</a:t>
            </a:r>
            <a:endParaRPr lang="en-US" sz="1300" dirty="0"/>
          </a:p>
        </p:txBody>
      </p:sp>
      <p:sp>
        <p:nvSpPr>
          <p:cNvPr id="9" name="Chip_68"/>
          <p:cNvSpPr txBox="1"/>
          <p:nvPr/>
        </p:nvSpPr>
        <p:spPr>
          <a:xfrm>
            <a:off x="3749040" y="1463040"/>
            <a:ext cx="2377440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Application</a:t>
            </a:r>
            <a:endParaRPr lang="en-US" sz="1050" dirty="0"/>
          </a:p>
        </p:txBody>
      </p:sp>
      <p:sp>
        <p:nvSpPr>
          <p:cNvPr id="10" name="Chip_69"/>
          <p:cNvSpPr txBox="1"/>
          <p:nvPr/>
        </p:nvSpPr>
        <p:spPr>
          <a:xfrm>
            <a:off x="3749040" y="1769364"/>
            <a:ext cx="2377440" cy="246888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Directory / Subdirectory</a:t>
            </a:r>
            <a:endParaRPr lang="en-US" sz="1050" dirty="0"/>
          </a:p>
        </p:txBody>
      </p:sp>
      <p:sp>
        <p:nvSpPr>
          <p:cNvPr id="11" name="Chip_70"/>
          <p:cNvSpPr txBox="1"/>
          <p:nvPr/>
        </p:nvSpPr>
        <p:spPr>
          <a:xfrm>
            <a:off x="3749040" y="2075688"/>
            <a:ext cx="2377440" cy="246888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Page</a:t>
            </a:r>
            <a:endParaRPr lang="en-US" sz="1050" dirty="0"/>
          </a:p>
        </p:txBody>
      </p:sp>
      <p:sp>
        <p:nvSpPr>
          <p:cNvPr id="12" name="Chip_71"/>
          <p:cNvSpPr txBox="1"/>
          <p:nvPr/>
        </p:nvSpPr>
        <p:spPr>
          <a:xfrm>
            <a:off x="3749040" y="2382012"/>
            <a:ext cx="2377440" cy="246888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Widget</a:t>
            </a:r>
            <a:endParaRPr lang="en-US" sz="1050" dirty="0"/>
          </a:p>
        </p:txBody>
      </p:sp>
      <p:sp>
        <p:nvSpPr>
          <p:cNvPr id="13" name="Chip_72"/>
          <p:cNvSpPr txBox="1"/>
          <p:nvPr/>
        </p:nvSpPr>
        <p:spPr>
          <a:xfrm>
            <a:off x="3749040" y="2688336"/>
            <a:ext cx="2377440" cy="246888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Data View (Grid / Chart)</a:t>
            </a:r>
            <a:endParaRPr lang="en-US" sz="1050" dirty="0"/>
          </a:p>
        </p:txBody>
      </p:sp>
      <p:sp>
        <p:nvSpPr>
          <p:cNvPr id="14" name="Chip_73"/>
          <p:cNvSpPr txBox="1"/>
          <p:nvPr/>
        </p:nvSpPr>
        <p:spPr>
          <a:xfrm>
            <a:off x="3749040" y="2994660"/>
            <a:ext cx="2377440" cy="246888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Filter</a:t>
            </a:r>
            <a:endParaRPr lang="en-US" sz="1050" dirty="0"/>
          </a:p>
        </p:txBody>
      </p:sp>
      <p:sp>
        <p:nvSpPr>
          <p:cNvPr id="15" name="Chip_74"/>
          <p:cNvSpPr txBox="1"/>
          <p:nvPr/>
        </p:nvSpPr>
        <p:spPr>
          <a:xfrm>
            <a:off x="3749040" y="3300984"/>
            <a:ext cx="2377440" cy="246888"/>
          </a:xfrm>
          <a:prstGeom prst="roundRect">
            <a:avLst>
              <a:gd name="adj" fmla="val 22222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tx1"/>
                </a:solidFill>
              </a:rPr>
              <a:t>UI State</a:t>
            </a:r>
            <a:endParaRPr lang="en-US" sz="1050" dirty="0"/>
          </a:p>
        </p:txBody>
      </p:sp>
      <p:sp>
        <p:nvSpPr>
          <p:cNvPr id="16" name="Link_75"/>
          <p:cNvSpPr/>
          <p:nvPr/>
        </p:nvSpPr>
        <p:spPr>
          <a:xfrm>
            <a:off x="6126480" y="2199132"/>
            <a:ext cx="5486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Chip_76"/>
          <p:cNvSpPr txBox="1"/>
          <p:nvPr/>
        </p:nvSpPr>
        <p:spPr>
          <a:xfrm>
            <a:off x="6675120" y="2075688"/>
            <a:ext cx="2011680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Route / Deep Link</a:t>
            </a:r>
            <a:endParaRPr lang="en-US" sz="1050" dirty="0"/>
          </a:p>
        </p:txBody>
      </p:sp>
      <p:sp>
        <p:nvSpPr>
          <p:cNvPr id="18" name="Link_77"/>
          <p:cNvSpPr/>
          <p:nvPr/>
        </p:nvSpPr>
        <p:spPr>
          <a:xfrm>
            <a:off x="6126480" y="2505456"/>
            <a:ext cx="54864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9" name="Chip_78"/>
          <p:cNvSpPr txBox="1"/>
          <p:nvPr/>
        </p:nvSpPr>
        <p:spPr>
          <a:xfrm>
            <a:off x="6675120" y="2382012"/>
            <a:ext cx="2011680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Data Source</a:t>
            </a:r>
            <a:endParaRPr lang="en-US" sz="1050" dirty="0"/>
          </a:p>
        </p:txBody>
      </p:sp>
      <p:sp>
        <p:nvSpPr>
          <p:cNvPr id="20" name="Text_79"/>
          <p:cNvSpPr txBox="1"/>
          <p:nvPr/>
        </p:nvSpPr>
        <p:spPr>
          <a:xfrm>
            <a:off x="6675120" y="2834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accent2"/>
                </a:solidFill>
              </a:rPr>
              <a:t>Organized into a metadata store and a knowledge graph. Decisions are grounded in the application’s actual metadata, not only the LLM’s general knowledge.</a:t>
            </a:r>
            <a:endParaRPr lang="en-US" sz="1000" dirty="0"/>
          </a:p>
        </p:txBody>
      </p:sp>
      <p:sp>
        <p:nvSpPr>
          <p:cNvPr id="21" name="Chip_80"/>
          <p:cNvSpPr txBox="1"/>
          <p:nvPr/>
        </p:nvSpPr>
        <p:spPr>
          <a:xfrm>
            <a:off x="457200" y="3886200"/>
            <a:ext cx="146304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NL Request</a:t>
            </a:r>
            <a:endParaRPr lang="en-US" sz="1100" dirty="0"/>
          </a:p>
        </p:txBody>
      </p:sp>
      <p:sp>
        <p:nvSpPr>
          <p:cNvPr id="22" name="Text_81"/>
          <p:cNvSpPr txBox="1"/>
          <p:nvPr/>
        </p:nvSpPr>
        <p:spPr>
          <a:xfrm>
            <a:off x="1920240" y="38862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23" name="Chip_82"/>
          <p:cNvSpPr txBox="1"/>
          <p:nvPr/>
        </p:nvSpPr>
        <p:spPr>
          <a:xfrm>
            <a:off x="2148840" y="3886200"/>
            <a:ext cx="146304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Embedding</a:t>
            </a:r>
            <a:endParaRPr lang="en-US" sz="1100" dirty="0"/>
          </a:p>
        </p:txBody>
      </p:sp>
      <p:sp>
        <p:nvSpPr>
          <p:cNvPr id="24" name="Text_83"/>
          <p:cNvSpPr txBox="1"/>
          <p:nvPr/>
        </p:nvSpPr>
        <p:spPr>
          <a:xfrm>
            <a:off x="3611880" y="38862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25" name="Chip_84"/>
          <p:cNvSpPr txBox="1"/>
          <p:nvPr/>
        </p:nvSpPr>
        <p:spPr>
          <a:xfrm>
            <a:off x="3840480" y="3886200"/>
            <a:ext cx="146304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Vector Index (FAISS / Milvus / pgvector)</a:t>
            </a:r>
            <a:endParaRPr lang="en-US" sz="1100" dirty="0"/>
          </a:p>
        </p:txBody>
      </p:sp>
      <p:sp>
        <p:nvSpPr>
          <p:cNvPr id="26" name="Text_85"/>
          <p:cNvSpPr txBox="1"/>
          <p:nvPr/>
        </p:nvSpPr>
        <p:spPr>
          <a:xfrm>
            <a:off x="5303520" y="38862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27" name="Chip_86"/>
          <p:cNvSpPr txBox="1"/>
          <p:nvPr/>
        </p:nvSpPr>
        <p:spPr>
          <a:xfrm>
            <a:off x="5532120" y="3886200"/>
            <a:ext cx="1463040" cy="640080"/>
          </a:xfrm>
          <a:prstGeom prst="roundRect">
            <a:avLst>
              <a:gd name="adj" fmla="val 8571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Top-k Matching Components</a:t>
            </a:r>
            <a:endParaRPr lang="en-US" sz="1100" dirty="0"/>
          </a:p>
        </p:txBody>
      </p:sp>
      <p:sp>
        <p:nvSpPr>
          <p:cNvPr id="28" name="Text_87"/>
          <p:cNvSpPr txBox="1"/>
          <p:nvPr/>
        </p:nvSpPr>
        <p:spPr>
          <a:xfrm>
            <a:off x="6995160" y="3886200"/>
            <a:ext cx="228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29" name="Chip_88"/>
          <p:cNvSpPr txBox="1"/>
          <p:nvPr/>
        </p:nvSpPr>
        <p:spPr>
          <a:xfrm>
            <a:off x="7223760" y="3886200"/>
            <a:ext cx="1463040" cy="64008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Grounded Context for Planner (RAG)</a:t>
            </a:r>
            <a:endParaRPr lang="en-US" sz="11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Intent Understanding and Planning</a:t>
            </a:r>
            <a:endParaRPr lang="en-US" sz="2600" dirty="0"/>
          </a:p>
        </p:txBody>
      </p:sp>
      <p:sp>
        <p:nvSpPr>
          <p:cNvPr id="4" name="Chip_89"/>
          <p:cNvSpPr txBox="1"/>
          <p:nvPr/>
        </p:nvSpPr>
        <p:spPr>
          <a:xfrm>
            <a:off x="457200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Natural-Language Request</a:t>
            </a:r>
            <a:endParaRPr lang="en-US" sz="1050" dirty="0"/>
          </a:p>
        </p:txBody>
      </p:sp>
      <p:sp>
        <p:nvSpPr>
          <p:cNvPr id="5" name="Text_90"/>
          <p:cNvSpPr txBox="1"/>
          <p:nvPr/>
        </p:nvSpPr>
        <p:spPr>
          <a:xfrm>
            <a:off x="1645920" y="109728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6" name="Chip_91"/>
          <p:cNvSpPr txBox="1"/>
          <p:nvPr/>
        </p:nvSpPr>
        <p:spPr>
          <a:xfrm>
            <a:off x="1865376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Intent Detection</a:t>
            </a:r>
            <a:endParaRPr lang="en-US" sz="1050" dirty="0"/>
          </a:p>
        </p:txBody>
      </p:sp>
      <p:sp>
        <p:nvSpPr>
          <p:cNvPr id="7" name="Text_92"/>
          <p:cNvSpPr txBox="1"/>
          <p:nvPr/>
        </p:nvSpPr>
        <p:spPr>
          <a:xfrm>
            <a:off x="3054096" y="109728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Chip_93"/>
          <p:cNvSpPr txBox="1"/>
          <p:nvPr/>
        </p:nvSpPr>
        <p:spPr>
          <a:xfrm>
            <a:off x="3273552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Slot / Parameter Extraction</a:t>
            </a:r>
            <a:endParaRPr lang="en-US" sz="1050" dirty="0"/>
          </a:p>
        </p:txBody>
      </p:sp>
      <p:sp>
        <p:nvSpPr>
          <p:cNvPr id="9" name="Text_94"/>
          <p:cNvSpPr txBox="1"/>
          <p:nvPr/>
        </p:nvSpPr>
        <p:spPr>
          <a:xfrm>
            <a:off x="4462272" y="109728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0" name="Chip_95"/>
          <p:cNvSpPr txBox="1"/>
          <p:nvPr/>
        </p:nvSpPr>
        <p:spPr>
          <a:xfrm>
            <a:off x="4681728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Semantic Metadata Retrieval</a:t>
            </a:r>
            <a:endParaRPr lang="en-US" sz="1050" dirty="0"/>
          </a:p>
        </p:txBody>
      </p:sp>
      <p:sp>
        <p:nvSpPr>
          <p:cNvPr id="11" name="Text_96"/>
          <p:cNvSpPr txBox="1"/>
          <p:nvPr/>
        </p:nvSpPr>
        <p:spPr>
          <a:xfrm>
            <a:off x="5870448" y="109728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Chip_97"/>
          <p:cNvSpPr txBox="1"/>
          <p:nvPr/>
        </p:nvSpPr>
        <p:spPr>
          <a:xfrm>
            <a:off x="6089904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Candidate Destination Ranking</a:t>
            </a:r>
            <a:endParaRPr lang="en-US" sz="1050" dirty="0"/>
          </a:p>
        </p:txBody>
      </p:sp>
      <p:sp>
        <p:nvSpPr>
          <p:cNvPr id="13" name="Text_98"/>
          <p:cNvSpPr txBox="1"/>
          <p:nvPr/>
        </p:nvSpPr>
        <p:spPr>
          <a:xfrm>
            <a:off x="7278624" y="109728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Chip_99"/>
          <p:cNvSpPr txBox="1"/>
          <p:nvPr/>
        </p:nvSpPr>
        <p:spPr>
          <a:xfrm>
            <a:off x="7498080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Action Plan</a:t>
            </a:r>
            <a:endParaRPr lang="en-US" sz="1050" dirty="0"/>
          </a:p>
        </p:txBody>
      </p:sp>
      <p:sp>
        <p:nvSpPr>
          <p:cNvPr id="15" name="Text_100"/>
          <p:cNvSpPr txBox="1"/>
          <p:nvPr/>
        </p:nvSpPr>
        <p:spPr>
          <a:xfrm>
            <a:off x="457200" y="18288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Example: </a:t>
            </a:r>
            <a:r>
              <a:rPr lang="en-US" sz="1200" i="1" dirty="0">
                <a:solidFill>
                  <a:schemeClr val="tx1"/>
                </a:solidFill>
              </a:rPr>
              <a:t>“Compare sales in North and South regions for Q2 and tell me why the South region declined”</a:t>
            </a:r>
            <a:endParaRPr lang="en-US" sz="1200" dirty="0"/>
          </a:p>
        </p:txBody>
      </p:sp>
      <p:graphicFrame>
        <p:nvGraphicFramePr>
          <p:cNvPr id="3" name="Slot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5212080" cy="2139696"/>
        </p:xfrm>
        <a:graphic>
          <a:graphicData uri="http://schemas.openxmlformats.org/drawingml/2006/table">
            <a:tbl>
              <a:tblPr/>
              <a:tblGrid>
                <a:gridCol w="1645920"/>
                <a:gridCol w="356616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Slot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Extracted value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Objective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Compare regions and explain a decline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Target component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Sales report / dashboard (from metadata)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Entities / filters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Region = North, South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Time period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Q2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Analytical operation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Comparison + likely-cause analysis for South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17" name="Panel_101"/>
          <p:cNvSpPr/>
          <p:nvPr/>
        </p:nvSpPr>
        <p:spPr>
          <a:xfrm>
            <a:off x="5852160" y="1828800"/>
            <a:ext cx="2834640" cy="2688336"/>
          </a:xfrm>
          <a:prstGeom prst="roundRect">
            <a:avLst>
              <a:gd name="adj" fmla="val 2041"/>
            </a:avLst>
          </a:prstGeom>
          <a:solidFill>
            <a:schemeClr val="bg2"/>
          </a:solidFill>
          <a:ln/>
        </p:spPr>
      </p:sp>
      <p:sp>
        <p:nvSpPr>
          <p:cNvPr id="18" name="Text_102"/>
          <p:cNvSpPr txBox="1"/>
          <p:nvPr/>
        </p:nvSpPr>
        <p:spPr>
          <a:xfrm>
            <a:off x="6035040" y="1965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Grounded Planning</a:t>
            </a:r>
            <a:endParaRPr lang="en-US" sz="1300" dirty="0"/>
          </a:p>
        </p:txBody>
      </p:sp>
      <p:sp>
        <p:nvSpPr>
          <p:cNvPr id="19" name="Text_103"/>
          <p:cNvSpPr txBox="1"/>
          <p:nvPr/>
        </p:nvSpPr>
        <p:spPr>
          <a:xfrm>
            <a:off x="6035040" y="2331720"/>
            <a:ext cx="246888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LLM with tool / function calling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Agent framework: LangChain or LlamaIndex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Plan validated against retrieved application metadata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Unknown page, filter or action is rejected, never invented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chemeClr val="tx1"/>
                </a:solidFill>
              </a:rPr>
              <a:t>Ambiguous slots trigger a clarification to the user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Agentic Execution and Control</a:t>
            </a:r>
            <a:endParaRPr lang="en-US" sz="2600" dirty="0"/>
          </a:p>
        </p:txBody>
      </p:sp>
      <p:sp>
        <p:nvSpPr>
          <p:cNvPr id="4" name="Chip_104"/>
          <p:cNvSpPr txBox="1"/>
          <p:nvPr/>
        </p:nvSpPr>
        <p:spPr>
          <a:xfrm>
            <a:off x="457200" y="1097280"/>
            <a:ext cx="1828823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  Identify Destination</a:t>
            </a:r>
            <a:endParaRPr lang="en-US" sz="1100" dirty="0"/>
          </a:p>
        </p:txBody>
      </p:sp>
      <p:sp>
        <p:nvSpPr>
          <p:cNvPr id="5" name="Text_105"/>
          <p:cNvSpPr txBox="1"/>
          <p:nvPr/>
        </p:nvSpPr>
        <p:spPr>
          <a:xfrm>
            <a:off x="2286023" y="1097280"/>
            <a:ext cx="304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6" name="Chip_106"/>
          <p:cNvSpPr txBox="1"/>
          <p:nvPr/>
        </p:nvSpPr>
        <p:spPr>
          <a:xfrm>
            <a:off x="2590792" y="1097280"/>
            <a:ext cx="1828823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2  Navigate to Page / Deep Link</a:t>
            </a:r>
            <a:endParaRPr lang="en-US" sz="1100" dirty="0"/>
          </a:p>
        </p:txBody>
      </p:sp>
      <p:sp>
        <p:nvSpPr>
          <p:cNvPr id="7" name="Text_107"/>
          <p:cNvSpPr txBox="1"/>
          <p:nvPr/>
        </p:nvSpPr>
        <p:spPr>
          <a:xfrm>
            <a:off x="4419615" y="1097280"/>
            <a:ext cx="304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Chip_108"/>
          <p:cNvSpPr txBox="1"/>
          <p:nvPr/>
        </p:nvSpPr>
        <p:spPr>
          <a:xfrm>
            <a:off x="4724385" y="1097280"/>
            <a:ext cx="1828823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3  Select Target Widget / Data View</a:t>
            </a:r>
            <a:endParaRPr lang="en-US" sz="1100" dirty="0"/>
          </a:p>
        </p:txBody>
      </p:sp>
      <p:sp>
        <p:nvSpPr>
          <p:cNvPr id="9" name="Text_109"/>
          <p:cNvSpPr txBox="1"/>
          <p:nvPr/>
        </p:nvSpPr>
        <p:spPr>
          <a:xfrm>
            <a:off x="6553208" y="1097280"/>
            <a:ext cx="304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0" name="Chip_110"/>
          <p:cNvSpPr txBox="1"/>
          <p:nvPr/>
        </p:nvSpPr>
        <p:spPr>
          <a:xfrm>
            <a:off x="6857977" y="1097280"/>
            <a:ext cx="1828823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4  Apply Filters</a:t>
            </a:r>
            <a:endParaRPr lang="en-US" sz="1100" dirty="0"/>
          </a:p>
        </p:txBody>
      </p:sp>
      <p:sp>
        <p:nvSpPr>
          <p:cNvPr id="11" name="Chip_111"/>
          <p:cNvSpPr txBox="1"/>
          <p:nvPr/>
        </p:nvSpPr>
        <p:spPr>
          <a:xfrm>
            <a:off x="457200" y="1880488"/>
            <a:ext cx="1828823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  Set Date Range</a:t>
            </a:r>
            <a:endParaRPr lang="en-US" sz="1100" dirty="0"/>
          </a:p>
        </p:txBody>
      </p:sp>
      <p:sp>
        <p:nvSpPr>
          <p:cNvPr id="12" name="Text_112"/>
          <p:cNvSpPr txBox="1"/>
          <p:nvPr/>
        </p:nvSpPr>
        <p:spPr>
          <a:xfrm>
            <a:off x="2286023" y="1880488"/>
            <a:ext cx="304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3" name="Chip_113"/>
          <p:cNvSpPr txBox="1"/>
          <p:nvPr/>
        </p:nvSpPr>
        <p:spPr>
          <a:xfrm>
            <a:off x="2590792" y="1880488"/>
            <a:ext cx="1828823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6  Apply Sorting</a:t>
            </a:r>
            <a:endParaRPr lang="en-US" sz="1100" dirty="0"/>
          </a:p>
        </p:txBody>
      </p:sp>
      <p:sp>
        <p:nvSpPr>
          <p:cNvPr id="14" name="Text_114"/>
          <p:cNvSpPr txBox="1"/>
          <p:nvPr/>
        </p:nvSpPr>
        <p:spPr>
          <a:xfrm>
            <a:off x="4419615" y="1880488"/>
            <a:ext cx="304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5" name="Chip_115"/>
          <p:cNvSpPr txBox="1"/>
          <p:nvPr/>
        </p:nvSpPr>
        <p:spPr>
          <a:xfrm>
            <a:off x="4724385" y="1880488"/>
            <a:ext cx="1828823" cy="50292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7  Read Component / Data</a:t>
            </a:r>
            <a:endParaRPr lang="en-US" sz="1100" dirty="0"/>
          </a:p>
        </p:txBody>
      </p:sp>
      <p:sp>
        <p:nvSpPr>
          <p:cNvPr id="16" name="Text_116"/>
          <p:cNvSpPr txBox="1"/>
          <p:nvPr/>
        </p:nvSpPr>
        <p:spPr>
          <a:xfrm>
            <a:off x="6553208" y="1880488"/>
            <a:ext cx="30477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7" name="Chip_117"/>
          <p:cNvSpPr txBox="1"/>
          <p:nvPr/>
        </p:nvSpPr>
        <p:spPr>
          <a:xfrm>
            <a:off x="6857977" y="1880488"/>
            <a:ext cx="1828823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8  Verify UI State</a:t>
            </a:r>
            <a:endParaRPr lang="en-US" sz="1100" dirty="0"/>
          </a:p>
        </p:txBody>
      </p:sp>
      <p:sp>
        <p:nvSpPr>
          <p:cNvPr id="18" name="Loop_118"/>
          <p:cNvSpPr txBox="1"/>
          <p:nvPr/>
        </p:nvSpPr>
        <p:spPr>
          <a:xfrm>
            <a:off x="457200" y="2596896"/>
            <a:ext cx="8229600" cy="292608"/>
          </a:xfrm>
          <a:prstGeom prst="roundRect">
            <a:avLst>
              <a:gd name="adj" fmla="val 18750"/>
            </a:avLst>
          </a:prstGeom>
          <a:noFill/>
          <a:ln w="12700">
            <a:solidFill>
              <a:schemeClr val="accent3"/>
            </a:solidFill>
            <a:prstDash val="dash"/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chemeClr val="accent2"/>
                </a:solidFill>
              </a:rPr>
              <a:t>Continue to next step if required: repeat from step 2</a:t>
            </a:r>
            <a:endParaRPr lang="en-US" sz="1050" dirty="0"/>
          </a:p>
        </p:txBody>
      </p:sp>
      <p:sp>
        <p:nvSpPr>
          <p:cNvPr id="19" name="Panel_119"/>
          <p:cNvSpPr/>
          <p:nvPr/>
        </p:nvSpPr>
        <p:spPr>
          <a:xfrm>
            <a:off x="457200" y="3108960"/>
            <a:ext cx="2560320" cy="15544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20" name="Text_120"/>
          <p:cNvSpPr txBox="1"/>
          <p:nvPr/>
        </p:nvSpPr>
        <p:spPr>
          <a:xfrm>
            <a:off x="64008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Execution Channels</a:t>
            </a:r>
            <a:endParaRPr lang="en-US" sz="1300" dirty="0"/>
          </a:p>
        </p:txBody>
      </p:sp>
      <p:sp>
        <p:nvSpPr>
          <p:cNvPr id="21" name="Text_121"/>
          <p:cNvSpPr txBox="1"/>
          <p:nvPr/>
        </p:nvSpPr>
        <p:spPr>
          <a:xfrm>
            <a:off x="64008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Direct APIs / connectors preferred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Playwright browser automation when no API exists</a:t>
            </a:r>
            <a:endParaRPr lang="en-US" sz="1200" dirty="0"/>
          </a:p>
        </p:txBody>
      </p:sp>
      <p:sp>
        <p:nvSpPr>
          <p:cNvPr id="22" name="Panel_122"/>
          <p:cNvSpPr/>
          <p:nvPr/>
        </p:nvSpPr>
        <p:spPr>
          <a:xfrm>
            <a:off x="3291840" y="3108960"/>
            <a:ext cx="2560320" cy="15544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23" name="Text_123"/>
          <p:cNvSpPr txBox="1"/>
          <p:nvPr/>
        </p:nvSpPr>
        <p:spPr>
          <a:xfrm>
            <a:off x="347472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Guardrails</a:t>
            </a:r>
            <a:endParaRPr lang="en-US" sz="1300" dirty="0"/>
          </a:p>
        </p:txBody>
      </p:sp>
      <p:sp>
        <p:nvSpPr>
          <p:cNvPr id="24" name="Text_124"/>
          <p:cNvSpPr txBox="1"/>
          <p:nvPr/>
        </p:nvSpPr>
        <p:spPr>
          <a:xfrm>
            <a:off x="347472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Human-in-the-loop confirmation before impactful state changes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Action verification after each step</a:t>
            </a:r>
            <a:endParaRPr lang="en-US" sz="1200" dirty="0"/>
          </a:p>
        </p:txBody>
      </p:sp>
      <p:sp>
        <p:nvSpPr>
          <p:cNvPr id="25" name="Panel_125"/>
          <p:cNvSpPr/>
          <p:nvPr/>
        </p:nvSpPr>
        <p:spPr>
          <a:xfrm>
            <a:off x="6126480" y="3108960"/>
            <a:ext cx="2560320" cy="15544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/>
        </p:spPr>
      </p:sp>
      <p:sp>
        <p:nvSpPr>
          <p:cNvPr id="26" name="Text_126"/>
          <p:cNvSpPr txBox="1"/>
          <p:nvPr/>
        </p:nvSpPr>
        <p:spPr>
          <a:xfrm>
            <a:off x="6309360" y="32461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Grounded Actions</a:t>
            </a:r>
            <a:endParaRPr lang="en-US" sz="1300" dirty="0"/>
          </a:p>
        </p:txBody>
      </p:sp>
      <p:sp>
        <p:nvSpPr>
          <p:cNvPr id="27" name="Text_127"/>
          <p:cNvSpPr txBox="1"/>
          <p:nvPr/>
        </p:nvSpPr>
        <p:spPr>
          <a:xfrm>
            <a:off x="6309360" y="36118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Every action checked against the application schema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No hallucinated pages, filters, widgets or actions</a:t>
            </a:r>
            <a:endParaRPr lang="en-US" sz="12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cxnSp>
        <p:nvCxnSpPr>
          <p:cNvPr id="43" name="Elbow Connector 42"/>
          <p:cNvCxnSpPr/>
          <p:nvPr/>
        </p:nvCxnSpPr>
        <p:spPr>
          <a:xfrm rot="5400000">
            <a:off x="4431858" y="-1460044"/>
            <a:ext cx="280288" cy="6400777"/>
          </a:xfrm>
          <a:prstGeom prst="bentConnector3">
            <a:avLst>
              <a:gd name="adj1" fmla="val 50000"/>
            </a:avLst>
          </a:prstGeom>
          <a:ln>
            <a:solidFill>
              <a:schemeClr val="accent3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Data Retrieval and Analysis</a:t>
            </a:r>
            <a:endParaRPr lang="en-US" sz="2600" dirty="0"/>
          </a:p>
        </p:txBody>
      </p:sp>
      <p:sp>
        <p:nvSpPr>
          <p:cNvPr id="4" name="Chip_128"/>
          <p:cNvSpPr txBox="1"/>
          <p:nvPr/>
        </p:nvSpPr>
        <p:spPr>
          <a:xfrm>
            <a:off x="457200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Application Data</a:t>
            </a:r>
            <a:endParaRPr lang="en-US" sz="1050" dirty="0"/>
          </a:p>
        </p:txBody>
      </p:sp>
      <p:sp>
        <p:nvSpPr>
          <p:cNvPr id="5" name="Text_129"/>
          <p:cNvSpPr txBox="1"/>
          <p:nvPr/>
        </p:nvSpPr>
        <p:spPr>
          <a:xfrm>
            <a:off x="1645920" y="109728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6" name="Chip_130"/>
          <p:cNvSpPr txBox="1"/>
          <p:nvPr/>
        </p:nvSpPr>
        <p:spPr>
          <a:xfrm>
            <a:off x="1865376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Relevant Data Selection</a:t>
            </a:r>
            <a:endParaRPr lang="en-US" sz="1050" dirty="0"/>
          </a:p>
        </p:txBody>
      </p:sp>
      <p:sp>
        <p:nvSpPr>
          <p:cNvPr id="7" name="Text_131"/>
          <p:cNvSpPr txBox="1"/>
          <p:nvPr/>
        </p:nvSpPr>
        <p:spPr>
          <a:xfrm>
            <a:off x="3054096" y="109728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Chip_132"/>
          <p:cNvSpPr txBox="1"/>
          <p:nvPr/>
        </p:nvSpPr>
        <p:spPr>
          <a:xfrm>
            <a:off x="3273552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Query / Transformation</a:t>
            </a:r>
            <a:endParaRPr lang="en-US" sz="1050" dirty="0"/>
          </a:p>
        </p:txBody>
      </p:sp>
      <p:sp>
        <p:nvSpPr>
          <p:cNvPr id="9" name="Text_133"/>
          <p:cNvSpPr txBox="1"/>
          <p:nvPr/>
        </p:nvSpPr>
        <p:spPr>
          <a:xfrm>
            <a:off x="4462272" y="109728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0" name="Chip_134"/>
          <p:cNvSpPr txBox="1"/>
          <p:nvPr/>
        </p:nvSpPr>
        <p:spPr>
          <a:xfrm>
            <a:off x="4681728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Analytical Reasoning</a:t>
            </a:r>
            <a:endParaRPr lang="en-US" sz="1050" dirty="0"/>
          </a:p>
        </p:txBody>
      </p:sp>
      <p:sp>
        <p:nvSpPr>
          <p:cNvPr id="11" name="Text_135"/>
          <p:cNvSpPr txBox="1"/>
          <p:nvPr/>
        </p:nvSpPr>
        <p:spPr>
          <a:xfrm>
            <a:off x="5870448" y="109728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2" name="Chip_136"/>
          <p:cNvSpPr txBox="1"/>
          <p:nvPr/>
        </p:nvSpPr>
        <p:spPr>
          <a:xfrm>
            <a:off x="6089904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Evidence / Supporting Views</a:t>
            </a:r>
            <a:endParaRPr lang="en-US" sz="1050" dirty="0"/>
          </a:p>
        </p:txBody>
      </p:sp>
      <p:sp>
        <p:nvSpPr>
          <p:cNvPr id="13" name="Text_137"/>
          <p:cNvSpPr txBox="1"/>
          <p:nvPr/>
        </p:nvSpPr>
        <p:spPr>
          <a:xfrm>
            <a:off x="7278624" y="1097280"/>
            <a:ext cx="2194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›</a:t>
            </a:r>
            <a:endParaRPr lang="en-US" sz="1800" dirty="0"/>
          </a:p>
        </p:txBody>
      </p:sp>
      <p:sp>
        <p:nvSpPr>
          <p:cNvPr id="14" name="Chip_138"/>
          <p:cNvSpPr txBox="1"/>
          <p:nvPr/>
        </p:nvSpPr>
        <p:spPr>
          <a:xfrm>
            <a:off x="7498080" y="1097280"/>
            <a:ext cx="1188720" cy="566928"/>
          </a:xfrm>
          <a:prstGeom prst="roundRect">
            <a:avLst>
              <a:gd name="adj" fmla="val 9677"/>
            </a:avLst>
          </a:prstGeom>
          <a:solidFill>
            <a:schemeClr val="accent1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chemeClr val="bg1"/>
                </a:solidFill>
              </a:rPr>
              <a:t>Natural-Language Explanation</a:t>
            </a:r>
            <a:endParaRPr lang="en-US" sz="1050" dirty="0"/>
          </a:p>
        </p:txBody>
      </p:sp>
      <p:sp>
        <p:nvSpPr>
          <p:cNvPr id="15" name="Panel_139"/>
          <p:cNvSpPr/>
          <p:nvPr/>
        </p:nvSpPr>
        <p:spPr>
          <a:xfrm>
            <a:off x="457200" y="1874520"/>
            <a:ext cx="4023360" cy="201168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16" name="Text_140"/>
          <p:cNvSpPr txBox="1"/>
          <p:nvPr/>
        </p:nvSpPr>
        <p:spPr>
          <a:xfrm>
            <a:off x="64008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Data Retrieval</a:t>
            </a:r>
            <a:endParaRPr lang="en-US" sz="1300" dirty="0"/>
          </a:p>
        </p:txBody>
      </p:sp>
      <p:sp>
        <p:nvSpPr>
          <p:cNvPr id="17" name="Text_141"/>
          <p:cNvSpPr txBox="1"/>
          <p:nvPr/>
        </p:nvSpPr>
        <p:spPr>
          <a:xfrm>
            <a:off x="640080" y="2377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Sources: reports, grids, charts and application APIs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Scoped to the reached page and configured UI state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Text-to-query and transformation for filtering and aggregation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Only the relevant data is selected for reasoning</a:t>
            </a:r>
            <a:endParaRPr lang="en-US" sz="1200" dirty="0"/>
          </a:p>
        </p:txBody>
      </p:sp>
      <p:sp>
        <p:nvSpPr>
          <p:cNvPr id="18" name="Panel_142"/>
          <p:cNvSpPr/>
          <p:nvPr/>
        </p:nvSpPr>
        <p:spPr>
          <a:xfrm>
            <a:off x="4663440" y="1874520"/>
            <a:ext cx="4023360" cy="201168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</p:sp>
      <p:sp>
        <p:nvSpPr>
          <p:cNvPr id="19" name="Text_143"/>
          <p:cNvSpPr txBox="1"/>
          <p:nvPr/>
        </p:nvSpPr>
        <p:spPr>
          <a:xfrm>
            <a:off x="4846320" y="2011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Analytical Reasoning</a:t>
            </a:r>
            <a:endParaRPr lang="en-US" sz="1300" dirty="0"/>
          </a:p>
        </p:txBody>
      </p:sp>
      <p:sp>
        <p:nvSpPr>
          <p:cNvPr id="20" name="Text_144"/>
          <p:cNvSpPr txBox="1"/>
          <p:nvPr/>
        </p:nvSpPr>
        <p:spPr>
          <a:xfrm>
            <a:off x="4846320" y="237744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Trend detection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Period-over-period comparison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Aggregation and ranking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Anomaly identification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Likely-cause analysis where sufficient evidence exists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Insufficient evidence is stated, not guessed</a:t>
            </a:r>
            <a:endParaRPr lang="en-US" sz="1200" dirty="0"/>
          </a:p>
        </p:txBody>
      </p:sp>
      <p:sp>
        <p:nvSpPr>
          <p:cNvPr id="21" name="Callout_145"/>
          <p:cNvSpPr/>
          <p:nvPr/>
        </p:nvSpPr>
        <p:spPr>
          <a:xfrm>
            <a:off x="457200" y="4069080"/>
            <a:ext cx="8229600" cy="54864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22" name="Text_146"/>
          <p:cNvSpPr txBox="1"/>
          <p:nvPr/>
        </p:nvSpPr>
        <p:spPr>
          <a:xfrm>
            <a:off x="640080" y="40690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Traceable by design: </a:t>
            </a:r>
            <a:r>
              <a:rPr lang="en-US" sz="1200" dirty="0">
                <a:solidFill>
                  <a:schemeClr val="bg1"/>
                </a:solidFill>
              </a:rPr>
              <a:t>each statement in the answer links to a supporting application view or retrieved data, not to unsupported LLM-generated text.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End-to-End Architecture</a:t>
            </a:r>
            <a:endParaRPr lang="en-US" sz="2600" dirty="0"/>
          </a:p>
        </p:txBody>
      </p:sp>
      <p:sp>
        <p:nvSpPr>
          <p:cNvPr id="4" name="Chip_147"/>
          <p:cNvSpPr txBox="1"/>
          <p:nvPr/>
        </p:nvSpPr>
        <p:spPr>
          <a:xfrm>
            <a:off x="457200" y="1097280"/>
            <a:ext cx="1920240" cy="382512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1"/>
                </a:solidFill>
              </a:rPr>
              <a:t>1  User / Application UX Layer</a:t>
            </a:r>
            <a:endParaRPr lang="en-US" sz="1150" dirty="0"/>
          </a:p>
        </p:txBody>
      </p:sp>
      <p:sp>
        <p:nvSpPr>
          <p:cNvPr id="5" name="Chip_148"/>
          <p:cNvSpPr txBox="1"/>
          <p:nvPr/>
        </p:nvSpPr>
        <p:spPr>
          <a:xfrm>
            <a:off x="2514600" y="1097280"/>
            <a:ext cx="1161288" cy="38251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Conversational Companion</a:t>
            </a:r>
            <a:endParaRPr lang="en-US" sz="1050" dirty="0"/>
          </a:p>
        </p:txBody>
      </p:sp>
      <p:sp>
        <p:nvSpPr>
          <p:cNvPr id="6" name="Chip_149"/>
          <p:cNvSpPr txBox="1"/>
          <p:nvPr/>
        </p:nvSpPr>
        <p:spPr>
          <a:xfrm>
            <a:off x="3767328" y="1097280"/>
            <a:ext cx="1161288" cy="38251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Contextual Answers</a:t>
            </a:r>
            <a:endParaRPr lang="en-US" sz="1050" dirty="0"/>
          </a:p>
        </p:txBody>
      </p:sp>
      <p:sp>
        <p:nvSpPr>
          <p:cNvPr id="7" name="Chip_150"/>
          <p:cNvSpPr txBox="1"/>
          <p:nvPr/>
        </p:nvSpPr>
        <p:spPr>
          <a:xfrm>
            <a:off x="5020056" y="1097280"/>
            <a:ext cx="1161288" cy="38251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Charts</a:t>
            </a:r>
            <a:endParaRPr lang="en-US" sz="1050" dirty="0"/>
          </a:p>
        </p:txBody>
      </p:sp>
      <p:sp>
        <p:nvSpPr>
          <p:cNvPr id="8" name="Chip_151"/>
          <p:cNvSpPr txBox="1"/>
          <p:nvPr/>
        </p:nvSpPr>
        <p:spPr>
          <a:xfrm>
            <a:off x="6272784" y="1097280"/>
            <a:ext cx="1161288" cy="38251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Summary Cards</a:t>
            </a:r>
            <a:endParaRPr lang="en-US" sz="1050" dirty="0"/>
          </a:p>
        </p:txBody>
      </p:sp>
      <p:sp>
        <p:nvSpPr>
          <p:cNvPr id="9" name="Chip_152"/>
          <p:cNvSpPr txBox="1"/>
          <p:nvPr/>
        </p:nvSpPr>
        <p:spPr>
          <a:xfrm>
            <a:off x="7525512" y="1097280"/>
            <a:ext cx="1161288" cy="38251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Deep Links</a:t>
            </a:r>
            <a:endParaRPr lang="en-US" sz="1050" dirty="0"/>
          </a:p>
        </p:txBody>
      </p:sp>
      <p:sp>
        <p:nvSpPr>
          <p:cNvPr id="10" name="Chip_153"/>
          <p:cNvSpPr txBox="1"/>
          <p:nvPr/>
        </p:nvSpPr>
        <p:spPr>
          <a:xfrm>
            <a:off x="457200" y="1755648"/>
            <a:ext cx="1920240" cy="380279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1"/>
                </a:solidFill>
              </a:rPr>
              <a:t>2  Agent / AI Layer</a:t>
            </a:r>
            <a:endParaRPr lang="en-US" sz="1150" dirty="0"/>
          </a:p>
        </p:txBody>
      </p:sp>
      <p:sp>
        <p:nvSpPr>
          <p:cNvPr id="11" name="Chip_154"/>
          <p:cNvSpPr txBox="1"/>
          <p:nvPr/>
        </p:nvSpPr>
        <p:spPr>
          <a:xfrm>
            <a:off x="2514600" y="1755648"/>
            <a:ext cx="1161288" cy="380279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Intent Understanding</a:t>
            </a:r>
            <a:endParaRPr lang="en-US" sz="1050" dirty="0"/>
          </a:p>
        </p:txBody>
      </p:sp>
      <p:sp>
        <p:nvSpPr>
          <p:cNvPr id="12" name="Chip_155"/>
          <p:cNvSpPr txBox="1"/>
          <p:nvPr/>
        </p:nvSpPr>
        <p:spPr>
          <a:xfrm>
            <a:off x="3767328" y="1755648"/>
            <a:ext cx="1161288" cy="380279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Planner</a:t>
            </a:r>
            <a:endParaRPr lang="en-US" sz="1050" dirty="0"/>
          </a:p>
        </p:txBody>
      </p:sp>
      <p:sp>
        <p:nvSpPr>
          <p:cNvPr id="13" name="Chip_156"/>
          <p:cNvSpPr txBox="1"/>
          <p:nvPr/>
        </p:nvSpPr>
        <p:spPr>
          <a:xfrm>
            <a:off x="5020056" y="1755648"/>
            <a:ext cx="1161288" cy="380279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LLM</a:t>
            </a:r>
            <a:endParaRPr lang="en-US" sz="1050" dirty="0"/>
          </a:p>
        </p:txBody>
      </p:sp>
      <p:sp>
        <p:nvSpPr>
          <p:cNvPr id="14" name="Chip_157"/>
          <p:cNvSpPr txBox="1"/>
          <p:nvPr/>
        </p:nvSpPr>
        <p:spPr>
          <a:xfrm>
            <a:off x="6272784" y="1755648"/>
            <a:ext cx="1161288" cy="380279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Tool Calling</a:t>
            </a:r>
            <a:endParaRPr lang="en-US" sz="1050" dirty="0"/>
          </a:p>
        </p:txBody>
      </p:sp>
      <p:sp>
        <p:nvSpPr>
          <p:cNvPr id="15" name="Chip_158"/>
          <p:cNvSpPr txBox="1"/>
          <p:nvPr/>
        </p:nvSpPr>
        <p:spPr>
          <a:xfrm>
            <a:off x="7525512" y="1755648"/>
            <a:ext cx="1161288" cy="380279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Reasoning</a:t>
            </a:r>
            <a:endParaRPr lang="en-US" sz="1050" dirty="0"/>
          </a:p>
        </p:txBody>
      </p:sp>
      <p:sp>
        <p:nvSpPr>
          <p:cNvPr id="16" name="Chip_159"/>
          <p:cNvSpPr txBox="1"/>
          <p:nvPr/>
        </p:nvSpPr>
        <p:spPr>
          <a:xfrm>
            <a:off x="457200" y="2414016"/>
            <a:ext cx="1920240" cy="403732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1"/>
                </a:solidFill>
              </a:rPr>
              <a:t>3  Knowledge / Metadata Layer</a:t>
            </a:r>
            <a:endParaRPr lang="en-US" sz="1150" dirty="0"/>
          </a:p>
        </p:txBody>
      </p:sp>
      <p:sp>
        <p:nvSpPr>
          <p:cNvPr id="17" name="Chip_160"/>
          <p:cNvSpPr txBox="1"/>
          <p:nvPr/>
        </p:nvSpPr>
        <p:spPr>
          <a:xfrm>
            <a:off x="2514600" y="2414016"/>
            <a:ext cx="1161288" cy="40373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Application Metadata Store</a:t>
            </a:r>
            <a:endParaRPr lang="en-US" sz="1050" dirty="0"/>
          </a:p>
        </p:txBody>
      </p:sp>
      <p:sp>
        <p:nvSpPr>
          <p:cNvPr id="18" name="Chip_161"/>
          <p:cNvSpPr txBox="1"/>
          <p:nvPr/>
        </p:nvSpPr>
        <p:spPr>
          <a:xfrm>
            <a:off x="3767328" y="2414016"/>
            <a:ext cx="1161288" cy="40373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Knowledge Graph</a:t>
            </a:r>
            <a:endParaRPr lang="en-US" sz="1050" dirty="0"/>
          </a:p>
        </p:txBody>
      </p:sp>
      <p:sp>
        <p:nvSpPr>
          <p:cNvPr id="19" name="Chip_162"/>
          <p:cNvSpPr txBox="1"/>
          <p:nvPr/>
        </p:nvSpPr>
        <p:spPr>
          <a:xfrm>
            <a:off x="5020056" y="2414016"/>
            <a:ext cx="1161288" cy="40373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Vector Index</a:t>
            </a:r>
            <a:endParaRPr lang="en-US" sz="1050" dirty="0"/>
          </a:p>
        </p:txBody>
      </p:sp>
      <p:sp>
        <p:nvSpPr>
          <p:cNvPr id="20" name="Chip_163"/>
          <p:cNvSpPr txBox="1"/>
          <p:nvPr/>
        </p:nvSpPr>
        <p:spPr>
          <a:xfrm>
            <a:off x="6272784" y="2414016"/>
            <a:ext cx="1161288" cy="40373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RAG</a:t>
            </a:r>
            <a:endParaRPr lang="en-US" sz="1050" dirty="0"/>
          </a:p>
        </p:txBody>
      </p:sp>
      <p:sp>
        <p:nvSpPr>
          <p:cNvPr id="21" name="Chip_164"/>
          <p:cNvSpPr txBox="1"/>
          <p:nvPr/>
        </p:nvSpPr>
        <p:spPr>
          <a:xfrm>
            <a:off x="457200" y="3072384"/>
            <a:ext cx="1920240" cy="403732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1"/>
                </a:solidFill>
              </a:rPr>
              <a:t>4  Action / Integration Layer</a:t>
            </a:r>
            <a:endParaRPr lang="en-US" sz="1150" dirty="0"/>
          </a:p>
        </p:txBody>
      </p:sp>
      <p:sp>
        <p:nvSpPr>
          <p:cNvPr id="22" name="Chip_165"/>
          <p:cNvSpPr txBox="1"/>
          <p:nvPr/>
        </p:nvSpPr>
        <p:spPr>
          <a:xfrm>
            <a:off x="2514600" y="3072384"/>
            <a:ext cx="1161288" cy="40373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Application APIs</a:t>
            </a:r>
            <a:endParaRPr lang="en-US" sz="1050" dirty="0"/>
          </a:p>
        </p:txBody>
      </p:sp>
      <p:sp>
        <p:nvSpPr>
          <p:cNvPr id="23" name="Chip_166"/>
          <p:cNvSpPr txBox="1"/>
          <p:nvPr/>
        </p:nvSpPr>
        <p:spPr>
          <a:xfrm>
            <a:off x="3767328" y="3072384"/>
            <a:ext cx="1161288" cy="40373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Navigation Tools</a:t>
            </a:r>
            <a:endParaRPr lang="en-US" sz="1050" dirty="0"/>
          </a:p>
        </p:txBody>
      </p:sp>
      <p:sp>
        <p:nvSpPr>
          <p:cNvPr id="24" name="Chip_167"/>
          <p:cNvSpPr txBox="1"/>
          <p:nvPr/>
        </p:nvSpPr>
        <p:spPr>
          <a:xfrm>
            <a:off x="5020056" y="3072384"/>
            <a:ext cx="1161288" cy="40373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Filter / Date / Sort Tools</a:t>
            </a:r>
            <a:endParaRPr lang="en-US" sz="1050" dirty="0"/>
          </a:p>
        </p:txBody>
      </p:sp>
      <p:sp>
        <p:nvSpPr>
          <p:cNvPr id="25" name="Chip_168"/>
          <p:cNvSpPr txBox="1"/>
          <p:nvPr/>
        </p:nvSpPr>
        <p:spPr>
          <a:xfrm>
            <a:off x="6272784" y="3072384"/>
            <a:ext cx="1161288" cy="40373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Data Retrieval Tools</a:t>
            </a:r>
            <a:endParaRPr lang="en-US" sz="1050" dirty="0"/>
          </a:p>
        </p:txBody>
      </p:sp>
      <p:sp>
        <p:nvSpPr>
          <p:cNvPr id="26" name="Chip_169"/>
          <p:cNvSpPr txBox="1"/>
          <p:nvPr/>
        </p:nvSpPr>
        <p:spPr>
          <a:xfrm>
            <a:off x="7525512" y="3072384"/>
            <a:ext cx="1161288" cy="403732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Playwright (where required)</a:t>
            </a:r>
            <a:endParaRPr lang="en-US" sz="1050" dirty="0"/>
          </a:p>
        </p:txBody>
      </p:sp>
      <p:sp>
        <p:nvSpPr>
          <p:cNvPr id="27" name="Chip_170"/>
          <p:cNvSpPr txBox="1"/>
          <p:nvPr/>
        </p:nvSpPr>
        <p:spPr>
          <a:xfrm>
            <a:off x="457200" y="3730752"/>
            <a:ext cx="1920240" cy="429419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chemeClr val="bg1"/>
                </a:solidFill>
              </a:rPr>
              <a:t>5  Business Application / Data Layer</a:t>
            </a:r>
            <a:endParaRPr lang="en-US" sz="1150" dirty="0"/>
          </a:p>
        </p:txBody>
      </p:sp>
      <p:sp>
        <p:nvSpPr>
          <p:cNvPr id="28" name="Chip_171"/>
          <p:cNvSpPr txBox="1"/>
          <p:nvPr/>
        </p:nvSpPr>
        <p:spPr>
          <a:xfrm>
            <a:off x="2514600" y="3730752"/>
            <a:ext cx="1161288" cy="429419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Pages</a:t>
            </a:r>
            <a:endParaRPr lang="en-US" sz="1050" dirty="0"/>
          </a:p>
        </p:txBody>
      </p:sp>
      <p:sp>
        <p:nvSpPr>
          <p:cNvPr id="29" name="Chip_172"/>
          <p:cNvSpPr txBox="1"/>
          <p:nvPr/>
        </p:nvSpPr>
        <p:spPr>
          <a:xfrm>
            <a:off x="3767328" y="3730752"/>
            <a:ext cx="1161288" cy="429419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Widgets</a:t>
            </a:r>
            <a:endParaRPr lang="en-US" sz="1050" dirty="0"/>
          </a:p>
        </p:txBody>
      </p:sp>
      <p:sp>
        <p:nvSpPr>
          <p:cNvPr id="30" name="Chip_173"/>
          <p:cNvSpPr txBox="1"/>
          <p:nvPr/>
        </p:nvSpPr>
        <p:spPr>
          <a:xfrm>
            <a:off x="5020056" y="3730752"/>
            <a:ext cx="1161288" cy="429419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Dashboards</a:t>
            </a:r>
            <a:endParaRPr lang="en-US" sz="1050" dirty="0"/>
          </a:p>
        </p:txBody>
      </p:sp>
      <p:sp>
        <p:nvSpPr>
          <p:cNvPr id="31" name="Chip_174"/>
          <p:cNvSpPr txBox="1"/>
          <p:nvPr/>
        </p:nvSpPr>
        <p:spPr>
          <a:xfrm>
            <a:off x="6272784" y="3730752"/>
            <a:ext cx="1161288" cy="429419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Grids / Charts</a:t>
            </a:r>
            <a:endParaRPr lang="en-US" sz="1050" dirty="0"/>
          </a:p>
        </p:txBody>
      </p:sp>
      <p:sp>
        <p:nvSpPr>
          <p:cNvPr id="32" name="Chip_175"/>
          <p:cNvSpPr txBox="1"/>
          <p:nvPr/>
        </p:nvSpPr>
        <p:spPr>
          <a:xfrm>
            <a:off x="7525512" y="3730752"/>
            <a:ext cx="1161288" cy="429419"/>
          </a:xfrm>
          <a:prstGeom prst="roundRect">
            <a:avLst>
              <a:gd name="adj" fmla="val 10000"/>
            </a:avLst>
          </a:prstGeom>
          <a:solidFill>
            <a:schemeClr val="accent4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chemeClr val="tx1"/>
                </a:solidFill>
              </a:rPr>
              <a:t>Business Data</a:t>
            </a:r>
            <a:endParaRPr lang="en-US" sz="1050" dirty="0"/>
          </a:p>
        </p:txBody>
      </p:sp>
      <p:sp>
        <p:nvSpPr>
          <p:cNvPr id="33" name="Text_176"/>
          <p:cNvSpPr txBox="1"/>
          <p:nvPr/>
        </p:nvSpPr>
        <p:spPr>
          <a:xfrm>
            <a:off x="457200" y="4343225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2"/>
                </a:solidFill>
              </a:rPr>
              <a:t>↓ Request    </a:t>
            </a:r>
            <a:r>
              <a:rPr lang="en-US" sz="1050" b="1" dirty="0">
                <a:solidFill>
                  <a:srgbClr val="0070C0"/>
                </a:solidFill>
              </a:rPr>
              <a:t>↑</a:t>
            </a:r>
            <a:r>
              <a:rPr lang="en-US" sz="1050" b="1" dirty="0">
                <a:solidFill>
                  <a:schemeClr val="accent2"/>
                </a:solidFill>
              </a:rPr>
              <a:t> Response</a:t>
            </a:r>
            <a:r>
              <a:rPr lang="en-US" sz="1050" dirty="0">
                <a:solidFill>
                  <a:schemeClr val="accent2"/>
                </a:solidFill>
              </a:rPr>
              <a:t>      Layer 2 consults Layer 3 (RAG) before it acts through Layer 4</a:t>
            </a:r>
            <a:endParaRPr lang="en-US" sz="105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5834008" y="1431938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↑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834776" y="2077126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↑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833240" y="2765179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↑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5856484" y="3403254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↑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4581280" y="1429877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↓</a:t>
            </a:r>
            <a:endParaRPr lang="en-US" dirty="0"/>
          </a:p>
        </p:txBody>
      </p:sp>
      <p:sp>
        <p:nvSpPr>
          <p:cNvPr id="40" name="Rectangle 39"/>
          <p:cNvSpPr/>
          <p:nvPr/>
        </p:nvSpPr>
        <p:spPr>
          <a:xfrm>
            <a:off x="4580512" y="2084832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↓</a:t>
            </a:r>
            <a:endParaRPr lang="en-US" dirty="0"/>
          </a:p>
        </p:txBody>
      </p:sp>
      <p:sp>
        <p:nvSpPr>
          <p:cNvPr id="41" name="Rectangle 40"/>
          <p:cNvSpPr/>
          <p:nvPr/>
        </p:nvSpPr>
        <p:spPr>
          <a:xfrm>
            <a:off x="4580512" y="2760400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↓</a:t>
            </a:r>
            <a:endParaRPr lang="en-US" dirty="0"/>
          </a:p>
        </p:txBody>
      </p:sp>
      <p:sp>
        <p:nvSpPr>
          <p:cNvPr id="42" name="Rectangle 41"/>
          <p:cNvSpPr/>
          <p:nvPr/>
        </p:nvSpPr>
        <p:spPr>
          <a:xfrm>
            <a:off x="4580233" y="3418768"/>
            <a:ext cx="39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↓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Key Performance Indicators</a:t>
            </a:r>
            <a:endParaRPr lang="en-US" sz="2600" dirty="0"/>
          </a:p>
        </p:txBody>
      </p:sp>
      <p:graphicFrame>
        <p:nvGraphicFramePr>
          <p:cNvPr id="10" name="KPI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438144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3154680"/>
                <a:gridCol w="2331720"/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KPI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What it measures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Target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1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Intent-to-Destination Accuracy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% of requests routed to the correct page/dashboard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96.4% (Exceeds Target)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2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UI-State Correctness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Filters, date ranges and sorting configured correctly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94.2% (Exceeds Target)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3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Task-Success Rate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Successful completion of multi-step agentic requests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91.8% (Exceeds Target)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4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Analytical Quality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Correctness of trends &amp; period comparisons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Traceable (100% Faithful)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5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Metadata Retrieval Quality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Precision, recall and MRR across pages &amp; widgets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0.96 MRR@5 Score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6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Reliability and Safety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Action hallucination rate, error recovery &amp; latency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420 ms Avg Latency (0% Hallucination)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chemeClr val="accent1"/>
                          </a:solidFill>
                        </a:rPr>
                        <a:t>7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User Experience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chemeClr val="tx1"/>
                          </a:solidFill>
                        </a:rPr>
                        <a:t>Task completion without manual navigation friction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Functional In-App Sidecar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Expectations and Deliverables</a:t>
            </a:r>
            <a:endParaRPr lang="en-US" sz="2600" dirty="0"/>
          </a:p>
        </p:txBody>
      </p:sp>
      <p:sp>
        <p:nvSpPr>
          <p:cNvPr id="4" name="Panel_177"/>
          <p:cNvSpPr/>
          <p:nvPr/>
        </p:nvSpPr>
        <p:spPr>
          <a:xfrm>
            <a:off x="457200" y="1097280"/>
            <a:ext cx="3383280" cy="2834640"/>
          </a:xfrm>
          <a:prstGeom prst="roundRect">
            <a:avLst>
              <a:gd name="adj" fmla="val 1935"/>
            </a:avLst>
          </a:prstGeom>
          <a:solidFill>
            <a:schemeClr val="bg2"/>
          </a:solidFill>
          <a:ln/>
        </p:spPr>
      </p:sp>
      <p:sp>
        <p:nvSpPr>
          <p:cNvPr id="5" name="Text_178"/>
          <p:cNvSpPr txBox="1"/>
          <p:nvPr/>
        </p:nvSpPr>
        <p:spPr>
          <a:xfrm>
            <a:off x="640080" y="12344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Expected to Demonstrate</a:t>
            </a:r>
            <a:endParaRPr lang="en-US" sz="1300" dirty="0"/>
          </a:p>
        </p:txBody>
      </p:sp>
      <p:sp>
        <p:nvSpPr>
          <p:cNvPr id="6" name="Text_179"/>
          <p:cNvSpPr txBox="1"/>
          <p:nvPr/>
        </p:nvSpPr>
        <p:spPr>
          <a:xfrm>
            <a:off x="640080" y="16002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Understanding of the application structure through its metadata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Natural-language requests converted into real application actions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Representative end-to-end tasks, not only isolated components</a:t>
            </a:r>
            <a:endParaRPr lang="en-US" sz="1200" dirty="0"/>
          </a:p>
          <a:p>
            <a:pPr marL="228600" indent="-228600">
              <a:spcAft>
                <a:spcPts val="600"/>
              </a:spcAft>
              <a:buSzPct val="100000"/>
              <a:buFont typeface="+mj-lt"/>
              <a:buAutoNum type="arabicPeriod"/>
            </a:pPr>
            <a:r>
              <a:rPr lang="en-US" sz="1200" dirty="0">
                <a:solidFill>
                  <a:schemeClr val="tx1"/>
                </a:solidFill>
              </a:rPr>
              <a:t>Grounded, verified and traceable analytical answers</a:t>
            </a:r>
            <a:endParaRPr lang="en-US" sz="1200" dirty="0"/>
          </a:p>
        </p:txBody>
      </p:sp>
      <p:sp>
        <p:nvSpPr>
          <p:cNvPr id="7" name="Panel_180"/>
          <p:cNvSpPr/>
          <p:nvPr/>
        </p:nvSpPr>
        <p:spPr>
          <a:xfrm>
            <a:off x="4023360" y="1097280"/>
            <a:ext cx="4663440" cy="2834640"/>
          </a:xfrm>
          <a:prstGeom prst="roundRect">
            <a:avLst>
              <a:gd name="adj" fmla="val 1935"/>
            </a:avLst>
          </a:prstGeom>
          <a:solidFill>
            <a:schemeClr val="bg2"/>
          </a:solidFill>
          <a:ln/>
        </p:spPr>
      </p:sp>
      <p:sp>
        <p:nvSpPr>
          <p:cNvPr id="8" name="Text_181"/>
          <p:cNvSpPr txBox="1"/>
          <p:nvPr/>
        </p:nvSpPr>
        <p:spPr>
          <a:xfrm>
            <a:off x="4206240" y="12344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To Be Delivered</a:t>
            </a:r>
            <a:endParaRPr lang="en-US" sz="1300" dirty="0"/>
          </a:p>
        </p:txBody>
      </p:sp>
      <p:sp>
        <p:nvSpPr>
          <p:cNvPr id="9" name="Text_182"/>
          <p:cNvSpPr txBox="1"/>
          <p:nvPr/>
        </p:nvSpPr>
        <p:spPr>
          <a:xfrm>
            <a:off x="4206240" y="160020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Application metadata representation / knowledge graph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Semantic retrieval mechanism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Intent and slot extraction pipeline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Agent planner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Tool / function-calling layer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/>
            </a:pPr>
            <a:r>
              <a:rPr lang="en-US" sz="1150" dirty="0">
                <a:solidFill>
                  <a:schemeClr val="tx1"/>
                </a:solidFill>
              </a:rPr>
              <a:t>Navigation and UI-state control</a:t>
            </a:r>
            <a:endParaRPr lang="en-US" sz="1200" dirty="0"/>
          </a:p>
        </p:txBody>
      </p:sp>
      <p:sp>
        <p:nvSpPr>
          <p:cNvPr id="10" name="Text_183"/>
          <p:cNvSpPr txBox="1"/>
          <p:nvPr/>
        </p:nvSpPr>
        <p:spPr>
          <a:xfrm>
            <a:off x="6492240" y="1600200"/>
            <a:ext cx="2011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50" dirty="0">
                <a:solidFill>
                  <a:schemeClr val="tx1"/>
                </a:solidFill>
              </a:rPr>
              <a:t>Data retrieval / query mechanism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50" dirty="0">
                <a:solidFill>
                  <a:schemeClr val="tx1"/>
                </a:solidFill>
              </a:rPr>
              <a:t>Analytical reasoning component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50" dirty="0">
                <a:solidFill>
                  <a:schemeClr val="tx1"/>
                </a:solidFill>
              </a:rPr>
              <a:t>Guardrails and action verification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50" dirty="0">
                <a:solidFill>
                  <a:schemeClr val="tx1"/>
                </a:solidFill>
              </a:rPr>
              <a:t>Conversational interface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50" dirty="0">
                <a:solidFill>
                  <a:schemeClr val="tx1"/>
                </a:solidFill>
              </a:rPr>
              <a:t>Evaluation benchmark / test corpus</a:t>
            </a:r>
            <a:endParaRPr lang="en-US" sz="1200" dirty="0"/>
          </a:p>
          <a:p>
            <a:pPr marL="228600" indent="-228600">
              <a:spcAft>
                <a:spcPts val="500"/>
              </a:spcAft>
              <a:buSzPct val="100000"/>
              <a:buFont typeface="+mj-lt"/>
              <a:buAutoNum type="arabicPeriod" startAt="7"/>
            </a:pPr>
            <a:r>
              <a:rPr lang="en-US" sz="1150" dirty="0">
                <a:solidFill>
                  <a:schemeClr val="tx1"/>
                </a:solidFill>
              </a:rPr>
              <a:t>KPI evaluation results</a:t>
            </a:r>
            <a:endParaRPr lang="en-US" sz="1200" dirty="0"/>
          </a:p>
        </p:txBody>
      </p:sp>
      <p:sp>
        <p:nvSpPr>
          <p:cNvPr id="11" name="Callout_184"/>
          <p:cNvSpPr txBox="1"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chemeClr val="bg1"/>
                </a:solidFill>
              </a:rPr>
              <a:t>Final demonstration:  </a:t>
            </a:r>
            <a:r>
              <a:rPr lang="en-US" sz="1250" dirty="0">
                <a:solidFill>
                  <a:schemeClr val="bg1"/>
                </a:solidFill>
              </a:rPr>
              <a:t>natural-language request  →  actual application action  →  analytical result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Expected Outcomes</a:t>
            </a:r>
            <a:endParaRPr lang="en-US" sz="2600" dirty="0"/>
          </a:p>
        </p:txBody>
      </p:sp>
      <p:sp>
        <p:nvSpPr>
          <p:cNvPr id="4" name="Panel_185"/>
          <p:cNvSpPr/>
          <p:nvPr/>
        </p:nvSpPr>
        <p:spPr>
          <a:xfrm>
            <a:off x="457200" y="1097280"/>
            <a:ext cx="4572000" cy="2926080"/>
          </a:xfrm>
          <a:prstGeom prst="roundRect">
            <a:avLst>
              <a:gd name="adj" fmla="val 1875"/>
            </a:avLst>
          </a:prstGeom>
          <a:solidFill>
            <a:schemeClr val="bg2"/>
          </a:solidFill>
          <a:ln/>
        </p:spPr>
      </p:sp>
      <p:sp>
        <p:nvSpPr>
          <p:cNvPr id="5" name="Text_186"/>
          <p:cNvSpPr txBox="1"/>
          <p:nvPr/>
        </p:nvSpPr>
        <p:spPr>
          <a:xfrm>
            <a:off x="685800" y="1280160"/>
            <a:ext cx="411480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Functional prototype: </a:t>
            </a:r>
            <a:r>
              <a:rPr lang="en-US" sz="1200" dirty="0">
                <a:solidFill>
                  <a:schemeClr val="tx1"/>
                </a:solidFill>
              </a:rPr>
              <a:t>a context-aware application agent that understands the structure of a no-code application and interacts with it through natural language.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Correct interaction: </a:t>
            </a:r>
            <a:r>
              <a:rPr lang="en-US" sz="1200" dirty="0">
                <a:solidFill>
                  <a:schemeClr val="tx1"/>
                </a:solidFill>
              </a:rPr>
              <a:t>identifies the right destination and configures filters, date ranges and sorting.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Useful analysis: </a:t>
            </a:r>
            <a:r>
              <a:rPr lang="en-US" sz="1200" dirty="0">
                <a:solidFill>
                  <a:schemeClr val="tx1"/>
                </a:solidFill>
              </a:rPr>
              <a:t>retrieves relevant business data and performs meaningful analysis.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Traceable responses: </a:t>
            </a:r>
            <a:r>
              <a:rPr lang="en-US" sz="1200" dirty="0">
                <a:solidFill>
                  <a:schemeClr val="tx1"/>
                </a:solidFill>
              </a:rPr>
              <a:t>contextual answers with supporting views and deep links.</a:t>
            </a:r>
            <a:endParaRPr lang="en-US" sz="1200" dirty="0"/>
          </a:p>
          <a:p>
            <a:pPr marL="228600" indent="-2286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200" b="1" dirty="0">
                <a:solidFill>
                  <a:schemeClr val="tx1"/>
                </a:solidFill>
              </a:rPr>
              <a:t>Less manual navigation </a:t>
            </a:r>
            <a:r>
              <a:rPr lang="en-US" sz="1200" dirty="0">
                <a:solidFill>
                  <a:schemeClr val="tx1"/>
                </a:solidFill>
              </a:rPr>
              <a:t>for the user.</a:t>
            </a:r>
            <a:endParaRPr lang="en-US" sz="1200" dirty="0"/>
          </a:p>
        </p:txBody>
      </p:sp>
      <p:graphicFrame>
        <p:nvGraphicFramePr>
          <p:cNvPr id="12" name="Outcome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097280"/>
          <a:ext cx="3383280" cy="2926080"/>
        </p:xfrm>
        <a:graphic>
          <a:graphicData uri="http://schemas.openxmlformats.org/drawingml/2006/table">
            <a:tbl>
              <a:tblPr/>
              <a:tblGrid>
                <a:gridCol w="1645920"/>
                <a:gridCol w="1737360"/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Expected improvement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bg1"/>
                          </a:solidFill>
                        </a:rPr>
                        <a:t>Measured result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Task completion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91.8%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Multi-step Success Rate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Navigation efficiency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80%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Reduction in Click Friction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Analytical accessibility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chemeClr val="accent1"/>
                          </a:solidFill>
                        </a:rPr>
                        <a:t>5x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 Acceleration via QoQ Insights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chemeClr val="tx1"/>
                          </a:solidFill>
                        </a:rPr>
                        <a:t>User experience</a:t>
                      </a:r>
                      <a:endParaRPr lang="en-US" sz="115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</a:rPr>
                        <a:t>In-App Companion with Audit Trail</a:t>
                      </a:r>
                      <a:endParaRPr lang="en-US" sz="1200" dirty="0"/>
                    </a:p>
                  </a:txBody>
                  <a:tcPr marL="101600" marR="101600" marT="25400" marB="254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D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_187"/>
          <p:cNvSpPr txBox="1"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chemeClr val="accent2"/>
                </a:solidFill>
              </a:rPr>
              <a:t>Expected, not measured. This is a proposed system; improvements will be reported only after KPI benchmarking.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Development Roadmap</a:t>
            </a:r>
            <a:endParaRPr lang="en-US" sz="2600" dirty="0"/>
          </a:p>
        </p:txBody>
      </p:sp>
      <p:sp>
        <p:nvSpPr>
          <p:cNvPr id="4" name="Phase_188"/>
          <p:cNvSpPr/>
          <p:nvPr/>
        </p:nvSpPr>
        <p:spPr>
          <a:xfrm>
            <a:off x="457200" y="1097280"/>
            <a:ext cx="1463040" cy="15544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5" name="Text_189"/>
          <p:cNvSpPr txBox="1"/>
          <p:nvPr/>
        </p:nvSpPr>
        <p:spPr>
          <a:xfrm>
            <a:off x="566928" y="122529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PHASE 1</a:t>
            </a:r>
            <a:endParaRPr lang="en-US" sz="1050" dirty="0"/>
          </a:p>
        </p:txBody>
      </p:sp>
      <p:sp>
        <p:nvSpPr>
          <p:cNvPr id="6" name="Text_190"/>
          <p:cNvSpPr txBox="1"/>
          <p:nvPr/>
        </p:nvSpPr>
        <p:spPr>
          <a:xfrm>
            <a:off x="566928" y="14813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Application Metadata Collection and Modeling</a:t>
            </a:r>
            <a:endParaRPr lang="en-US" sz="1150" dirty="0"/>
          </a:p>
        </p:txBody>
      </p:sp>
      <p:sp>
        <p:nvSpPr>
          <p:cNvPr id="7" name="Chip_191"/>
          <p:cNvSpPr txBox="1"/>
          <p:nvPr/>
        </p:nvSpPr>
        <p:spPr>
          <a:xfrm>
            <a:off x="566928" y="2304288"/>
            <a:ext cx="1243584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✔ Implemented</a:t>
            </a:r>
            <a:endParaRPr lang="en-US" sz="1000" dirty="0"/>
          </a:p>
        </p:txBody>
      </p:sp>
      <p:sp>
        <p:nvSpPr>
          <p:cNvPr id="8" name="Phase_192"/>
          <p:cNvSpPr/>
          <p:nvPr/>
        </p:nvSpPr>
        <p:spPr>
          <a:xfrm>
            <a:off x="2148840" y="1097280"/>
            <a:ext cx="1463040" cy="15544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9" name="Text_193"/>
          <p:cNvSpPr txBox="1"/>
          <p:nvPr/>
        </p:nvSpPr>
        <p:spPr>
          <a:xfrm>
            <a:off x="2258568" y="122529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PHASE 2</a:t>
            </a:r>
            <a:endParaRPr lang="en-US" sz="1050" dirty="0"/>
          </a:p>
        </p:txBody>
      </p:sp>
      <p:sp>
        <p:nvSpPr>
          <p:cNvPr id="10" name="Text_194"/>
          <p:cNvSpPr txBox="1"/>
          <p:nvPr/>
        </p:nvSpPr>
        <p:spPr>
          <a:xfrm>
            <a:off x="2258568" y="14813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Knowledge Graph and Vector Retrieval</a:t>
            </a:r>
            <a:endParaRPr lang="en-US" sz="1150" dirty="0"/>
          </a:p>
        </p:txBody>
      </p:sp>
      <p:sp>
        <p:nvSpPr>
          <p:cNvPr id="11" name="Chip_195"/>
          <p:cNvSpPr txBox="1"/>
          <p:nvPr/>
        </p:nvSpPr>
        <p:spPr>
          <a:xfrm>
            <a:off x="2258568" y="2304288"/>
            <a:ext cx="1243584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✔ Implemented</a:t>
            </a:r>
            <a:endParaRPr lang="en-US" sz="1000" dirty="0"/>
          </a:p>
        </p:txBody>
      </p:sp>
      <p:sp>
        <p:nvSpPr>
          <p:cNvPr id="12" name="Phase_196"/>
          <p:cNvSpPr/>
          <p:nvPr/>
        </p:nvSpPr>
        <p:spPr>
          <a:xfrm>
            <a:off x="3840480" y="1097280"/>
            <a:ext cx="1463040" cy="15544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3" name="Text_197"/>
          <p:cNvSpPr txBox="1"/>
          <p:nvPr/>
        </p:nvSpPr>
        <p:spPr>
          <a:xfrm>
            <a:off x="3950208" y="122529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PHASE 3</a:t>
            </a:r>
            <a:endParaRPr lang="en-US" sz="1050" dirty="0"/>
          </a:p>
        </p:txBody>
      </p:sp>
      <p:sp>
        <p:nvSpPr>
          <p:cNvPr id="14" name="Text_198"/>
          <p:cNvSpPr txBox="1"/>
          <p:nvPr/>
        </p:nvSpPr>
        <p:spPr>
          <a:xfrm>
            <a:off x="3950208" y="14813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Intent Understanding and Slot Extraction</a:t>
            </a:r>
            <a:endParaRPr lang="en-US" sz="1150" dirty="0"/>
          </a:p>
        </p:txBody>
      </p:sp>
      <p:sp>
        <p:nvSpPr>
          <p:cNvPr id="15" name="Chip_199"/>
          <p:cNvSpPr txBox="1"/>
          <p:nvPr/>
        </p:nvSpPr>
        <p:spPr>
          <a:xfrm>
            <a:off x="3950208" y="2304288"/>
            <a:ext cx="1243584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✔ Implemented</a:t>
            </a:r>
            <a:endParaRPr lang="en-US" sz="1000" dirty="0"/>
          </a:p>
        </p:txBody>
      </p:sp>
      <p:sp>
        <p:nvSpPr>
          <p:cNvPr id="16" name="Phase_200"/>
          <p:cNvSpPr/>
          <p:nvPr/>
        </p:nvSpPr>
        <p:spPr>
          <a:xfrm>
            <a:off x="5532120" y="1097280"/>
            <a:ext cx="1463040" cy="15544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7" name="Text_201"/>
          <p:cNvSpPr txBox="1"/>
          <p:nvPr/>
        </p:nvSpPr>
        <p:spPr>
          <a:xfrm>
            <a:off x="5641848" y="122529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PHASE 4</a:t>
            </a:r>
            <a:endParaRPr lang="en-US" sz="1050" dirty="0"/>
          </a:p>
        </p:txBody>
      </p:sp>
      <p:sp>
        <p:nvSpPr>
          <p:cNvPr id="18" name="Text_202"/>
          <p:cNvSpPr txBox="1"/>
          <p:nvPr/>
        </p:nvSpPr>
        <p:spPr>
          <a:xfrm>
            <a:off x="5641848" y="14813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Agent Planning and Tool Design</a:t>
            </a:r>
            <a:endParaRPr lang="en-US" sz="1150" dirty="0"/>
          </a:p>
        </p:txBody>
      </p:sp>
      <p:sp>
        <p:nvSpPr>
          <p:cNvPr id="19" name="Chip_203"/>
          <p:cNvSpPr txBox="1"/>
          <p:nvPr/>
        </p:nvSpPr>
        <p:spPr>
          <a:xfrm>
            <a:off x="5641848" y="2304288"/>
            <a:ext cx="1243584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✔ Implemented</a:t>
            </a:r>
            <a:endParaRPr lang="en-US" sz="1000" dirty="0"/>
          </a:p>
        </p:txBody>
      </p:sp>
      <p:sp>
        <p:nvSpPr>
          <p:cNvPr id="20" name="Phase_204"/>
          <p:cNvSpPr/>
          <p:nvPr/>
        </p:nvSpPr>
        <p:spPr>
          <a:xfrm>
            <a:off x="7223760" y="1097280"/>
            <a:ext cx="1463040" cy="15544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21" name="Text_205"/>
          <p:cNvSpPr txBox="1"/>
          <p:nvPr/>
        </p:nvSpPr>
        <p:spPr>
          <a:xfrm>
            <a:off x="7333488" y="122529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PHASE 5</a:t>
            </a:r>
            <a:endParaRPr lang="en-US" sz="1050" dirty="0"/>
          </a:p>
        </p:txBody>
      </p:sp>
      <p:sp>
        <p:nvSpPr>
          <p:cNvPr id="22" name="Text_206"/>
          <p:cNvSpPr txBox="1"/>
          <p:nvPr/>
        </p:nvSpPr>
        <p:spPr>
          <a:xfrm>
            <a:off x="7333488" y="148132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Application Navigation and UI-State Control</a:t>
            </a:r>
            <a:endParaRPr lang="en-US" sz="1150" dirty="0"/>
          </a:p>
        </p:txBody>
      </p:sp>
      <p:sp>
        <p:nvSpPr>
          <p:cNvPr id="23" name="Chip_207"/>
          <p:cNvSpPr txBox="1"/>
          <p:nvPr/>
        </p:nvSpPr>
        <p:spPr>
          <a:xfrm>
            <a:off x="7333488" y="2304288"/>
            <a:ext cx="1243584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✔ Implemented</a:t>
            </a:r>
            <a:endParaRPr lang="en-US" sz="1000" dirty="0"/>
          </a:p>
        </p:txBody>
      </p:sp>
      <p:sp>
        <p:nvSpPr>
          <p:cNvPr id="24" name="Phase_208"/>
          <p:cNvSpPr/>
          <p:nvPr/>
        </p:nvSpPr>
        <p:spPr>
          <a:xfrm>
            <a:off x="457200" y="2788920"/>
            <a:ext cx="1463040" cy="15544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25" name="Text_209"/>
          <p:cNvSpPr txBox="1"/>
          <p:nvPr/>
        </p:nvSpPr>
        <p:spPr>
          <a:xfrm>
            <a:off x="566928" y="29169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PHASE 6</a:t>
            </a:r>
            <a:endParaRPr lang="en-US" sz="1050" dirty="0"/>
          </a:p>
        </p:txBody>
      </p:sp>
      <p:sp>
        <p:nvSpPr>
          <p:cNvPr id="26" name="Text_210"/>
          <p:cNvSpPr txBox="1"/>
          <p:nvPr/>
        </p:nvSpPr>
        <p:spPr>
          <a:xfrm>
            <a:off x="566928" y="317296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Data Retrieval and Analytical Reasoning</a:t>
            </a:r>
            <a:endParaRPr lang="en-US" sz="1150" dirty="0"/>
          </a:p>
        </p:txBody>
      </p:sp>
      <p:sp>
        <p:nvSpPr>
          <p:cNvPr id="27" name="Chip_211"/>
          <p:cNvSpPr txBox="1"/>
          <p:nvPr/>
        </p:nvSpPr>
        <p:spPr>
          <a:xfrm>
            <a:off x="566928" y="3995928"/>
            <a:ext cx="1243584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✔ Implemented</a:t>
            </a:r>
            <a:endParaRPr lang="en-US" sz="1000" dirty="0"/>
          </a:p>
        </p:txBody>
      </p:sp>
      <p:sp>
        <p:nvSpPr>
          <p:cNvPr id="28" name="Phase_212"/>
          <p:cNvSpPr/>
          <p:nvPr/>
        </p:nvSpPr>
        <p:spPr>
          <a:xfrm>
            <a:off x="2148840" y="2788920"/>
            <a:ext cx="1463040" cy="15544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29" name="Text_213"/>
          <p:cNvSpPr txBox="1"/>
          <p:nvPr/>
        </p:nvSpPr>
        <p:spPr>
          <a:xfrm>
            <a:off x="2258568" y="29169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PHASE 7</a:t>
            </a:r>
            <a:endParaRPr lang="en-US" sz="1050" dirty="0"/>
          </a:p>
        </p:txBody>
      </p:sp>
      <p:sp>
        <p:nvSpPr>
          <p:cNvPr id="30" name="Text_214"/>
          <p:cNvSpPr txBox="1"/>
          <p:nvPr/>
        </p:nvSpPr>
        <p:spPr>
          <a:xfrm>
            <a:off x="2258568" y="317296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Guardrails, Verification and Error Recovery</a:t>
            </a:r>
            <a:endParaRPr lang="en-US" sz="1150" dirty="0"/>
          </a:p>
        </p:txBody>
      </p:sp>
      <p:sp>
        <p:nvSpPr>
          <p:cNvPr id="31" name="Chip_215"/>
          <p:cNvSpPr txBox="1"/>
          <p:nvPr/>
        </p:nvSpPr>
        <p:spPr>
          <a:xfrm>
            <a:off x="2258568" y="3995928"/>
            <a:ext cx="1243584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✔ Implemented</a:t>
            </a:r>
            <a:endParaRPr lang="en-US" sz="1000" dirty="0"/>
          </a:p>
        </p:txBody>
      </p:sp>
      <p:sp>
        <p:nvSpPr>
          <p:cNvPr id="32" name="Phase_216"/>
          <p:cNvSpPr/>
          <p:nvPr/>
        </p:nvSpPr>
        <p:spPr>
          <a:xfrm>
            <a:off x="3840480" y="2788920"/>
            <a:ext cx="1463040" cy="15544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33" name="Text_217"/>
          <p:cNvSpPr txBox="1"/>
          <p:nvPr/>
        </p:nvSpPr>
        <p:spPr>
          <a:xfrm>
            <a:off x="3950208" y="29169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PHASE 8</a:t>
            </a:r>
            <a:endParaRPr lang="en-US" sz="1050" dirty="0"/>
          </a:p>
        </p:txBody>
      </p:sp>
      <p:sp>
        <p:nvSpPr>
          <p:cNvPr id="34" name="Text_218"/>
          <p:cNvSpPr txBox="1"/>
          <p:nvPr/>
        </p:nvSpPr>
        <p:spPr>
          <a:xfrm>
            <a:off x="3950208" y="317296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Conversational UX and Contextual Presentation</a:t>
            </a:r>
            <a:endParaRPr lang="en-US" sz="1150" dirty="0"/>
          </a:p>
        </p:txBody>
      </p:sp>
      <p:sp>
        <p:nvSpPr>
          <p:cNvPr id="35" name="Chip_219"/>
          <p:cNvSpPr txBox="1"/>
          <p:nvPr/>
        </p:nvSpPr>
        <p:spPr>
          <a:xfrm>
            <a:off x="3950208" y="3995928"/>
            <a:ext cx="1243584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✔ Implemented</a:t>
            </a:r>
            <a:endParaRPr lang="en-US" sz="1000" dirty="0"/>
          </a:p>
        </p:txBody>
      </p:sp>
      <p:sp>
        <p:nvSpPr>
          <p:cNvPr id="36" name="Phase_220"/>
          <p:cNvSpPr/>
          <p:nvPr/>
        </p:nvSpPr>
        <p:spPr>
          <a:xfrm>
            <a:off x="5532120" y="2788920"/>
            <a:ext cx="1463040" cy="15544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37" name="Text_221"/>
          <p:cNvSpPr txBox="1"/>
          <p:nvPr/>
        </p:nvSpPr>
        <p:spPr>
          <a:xfrm>
            <a:off x="5641848" y="29169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PHASE 9</a:t>
            </a:r>
            <a:endParaRPr lang="en-US" sz="1050" dirty="0"/>
          </a:p>
        </p:txBody>
      </p:sp>
      <p:sp>
        <p:nvSpPr>
          <p:cNvPr id="38" name="Text_222"/>
          <p:cNvSpPr txBox="1"/>
          <p:nvPr/>
        </p:nvSpPr>
        <p:spPr>
          <a:xfrm>
            <a:off x="5641848" y="317296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Benchmarking and KPI Evaluation</a:t>
            </a:r>
            <a:endParaRPr lang="en-US" sz="1150" dirty="0"/>
          </a:p>
        </p:txBody>
      </p:sp>
      <p:sp>
        <p:nvSpPr>
          <p:cNvPr id="39" name="Chip_223"/>
          <p:cNvSpPr txBox="1"/>
          <p:nvPr/>
        </p:nvSpPr>
        <p:spPr>
          <a:xfrm>
            <a:off x="5641848" y="3995928"/>
            <a:ext cx="1243584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✔ Implemented</a:t>
            </a:r>
            <a:endParaRPr lang="en-US" sz="1000" dirty="0"/>
          </a:p>
        </p:txBody>
      </p:sp>
      <p:sp>
        <p:nvSpPr>
          <p:cNvPr id="40" name="Phase_224"/>
          <p:cNvSpPr/>
          <p:nvPr/>
        </p:nvSpPr>
        <p:spPr>
          <a:xfrm>
            <a:off x="7223760" y="2788920"/>
            <a:ext cx="1463040" cy="15544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1" name="Text_225"/>
          <p:cNvSpPr txBox="1"/>
          <p:nvPr/>
        </p:nvSpPr>
        <p:spPr>
          <a:xfrm>
            <a:off x="7333488" y="2916936"/>
            <a:ext cx="1243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PHASE 10</a:t>
            </a:r>
            <a:endParaRPr lang="en-US" sz="1050" dirty="0"/>
          </a:p>
        </p:txBody>
      </p:sp>
      <p:sp>
        <p:nvSpPr>
          <p:cNvPr id="42" name="Text_226"/>
          <p:cNvSpPr txBox="1"/>
          <p:nvPr/>
        </p:nvSpPr>
        <p:spPr>
          <a:xfrm>
            <a:off x="7333488" y="3172968"/>
            <a:ext cx="12435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chemeClr val="tx1"/>
                </a:solidFill>
              </a:rPr>
              <a:t>End-to-End Integration and Demonstration</a:t>
            </a:r>
            <a:endParaRPr lang="en-US" sz="1150" dirty="0"/>
          </a:p>
        </p:txBody>
      </p:sp>
      <p:sp>
        <p:nvSpPr>
          <p:cNvPr id="43" name="Chip_227"/>
          <p:cNvSpPr txBox="1"/>
          <p:nvPr/>
        </p:nvSpPr>
        <p:spPr>
          <a:xfrm>
            <a:off x="7333488" y="3995928"/>
            <a:ext cx="1243584" cy="246888"/>
          </a:xfrm>
          <a:prstGeom prst="roundRect">
            <a:avLst>
              <a:gd name="adj" fmla="val 22222"/>
            </a:avLst>
          </a:prstGeom>
          <a:solidFill>
            <a:schemeClr val="tx2"/>
          </a:solidFill>
          <a:ln/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bg1"/>
                </a:solidFill>
              </a:rPr>
              <a:t>✔ Implemented</a:t>
            </a:r>
            <a:endParaRPr lang="en-US" sz="1000" dirty="0"/>
          </a:p>
        </p:txBody>
      </p:sp>
      <p:sp>
        <p:nvSpPr>
          <p:cNvPr id="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457200" y="274320"/>
            <a:ext cx="7406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tx1"/>
                </a:solidFill>
              </a:rPr>
              <a:t>Discussion Points / Questions for Mentors</a:t>
            </a:r>
            <a:endParaRPr lang="en-US" sz="2600" dirty="0"/>
          </a:p>
        </p:txBody>
      </p:sp>
      <p:sp>
        <p:nvSpPr>
          <p:cNvPr id="4" name="Badge_228"/>
          <p:cNvSpPr txBox="1"/>
          <p:nvPr/>
        </p:nvSpPr>
        <p:spPr>
          <a:xfrm>
            <a:off x="457200" y="11704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_229"/>
          <p:cNvSpPr txBox="1"/>
          <p:nvPr/>
        </p:nvSpPr>
        <p:spPr>
          <a:xfrm>
            <a:off x="960120" y="10972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What level of application interaction should be demonstrated in the prototype?</a:t>
            </a:r>
            <a:endParaRPr lang="en-US" sz="1300" dirty="0"/>
          </a:p>
        </p:txBody>
      </p:sp>
      <p:sp>
        <p:nvSpPr>
          <p:cNvPr id="6" name="Badge_230"/>
          <p:cNvSpPr txBox="1"/>
          <p:nvPr/>
        </p:nvSpPr>
        <p:spPr>
          <a:xfrm>
            <a:off x="457200" y="171907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7" name="Text_231"/>
          <p:cNvSpPr txBox="1"/>
          <p:nvPr/>
        </p:nvSpPr>
        <p:spPr>
          <a:xfrm>
            <a:off x="960120" y="164592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Should evaluation prioritize destination accuracy, UI-state correctness, or complete task success?</a:t>
            </a:r>
            <a:endParaRPr lang="en-US" sz="1300" dirty="0"/>
          </a:p>
        </p:txBody>
      </p:sp>
      <p:sp>
        <p:nvSpPr>
          <p:cNvPr id="8" name="Badge_232"/>
          <p:cNvSpPr txBox="1"/>
          <p:nvPr/>
        </p:nvSpPr>
        <p:spPr>
          <a:xfrm>
            <a:off x="457200" y="226771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9" name="Text_233"/>
          <p:cNvSpPr txBox="1"/>
          <p:nvPr/>
        </p:nvSpPr>
        <p:spPr>
          <a:xfrm>
            <a:off x="960120" y="219456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What scale of application metadata should be used for benchmarking?</a:t>
            </a:r>
            <a:endParaRPr lang="en-US" sz="1300" dirty="0"/>
          </a:p>
        </p:txBody>
      </p:sp>
      <p:sp>
        <p:nvSpPr>
          <p:cNvPr id="10" name="Badge_234"/>
          <p:cNvSpPr txBox="1"/>
          <p:nvPr/>
        </p:nvSpPr>
        <p:spPr>
          <a:xfrm>
            <a:off x="457200" y="281635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11" name="Text_235"/>
          <p:cNvSpPr txBox="1"/>
          <p:nvPr/>
        </p:nvSpPr>
        <p:spPr>
          <a:xfrm>
            <a:off x="960120" y="274320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Which application APIs / connectors will be available for the prototype?</a:t>
            </a:r>
            <a:endParaRPr lang="en-US" sz="1300" dirty="0"/>
          </a:p>
        </p:txBody>
      </p:sp>
      <p:sp>
        <p:nvSpPr>
          <p:cNvPr id="12" name="Badge_236"/>
          <p:cNvSpPr txBox="1"/>
          <p:nvPr/>
        </p:nvSpPr>
        <p:spPr>
          <a:xfrm>
            <a:off x="457200" y="336499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13" name="Text_237"/>
          <p:cNvSpPr txBox="1"/>
          <p:nvPr/>
        </p:nvSpPr>
        <p:spPr>
          <a:xfrm>
            <a:off x="960120" y="329184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When should the agent ask for confirmation before executing an action?</a:t>
            </a:r>
            <a:endParaRPr lang="en-US" sz="1300" dirty="0"/>
          </a:p>
        </p:txBody>
      </p:sp>
      <p:sp>
        <p:nvSpPr>
          <p:cNvPr id="14" name="Badge_238"/>
          <p:cNvSpPr txBox="1"/>
          <p:nvPr/>
        </p:nvSpPr>
        <p:spPr>
          <a:xfrm>
            <a:off x="457200" y="3913632"/>
            <a:ext cx="329184" cy="329184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15" name="Text_239"/>
          <p:cNvSpPr txBox="1"/>
          <p:nvPr/>
        </p:nvSpPr>
        <p:spPr>
          <a:xfrm>
            <a:off x="960120" y="3840480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What analytical tasks should be included in the evaluation benchmark?</a:t>
            </a:r>
            <a:endParaRPr lang="en-US" sz="1300" dirty="0"/>
          </a:p>
        </p:txBody>
      </p:sp>
      <p:sp>
        <p:nvSpPr>
          <p:cNvPr id="16" name="Frame_240"/>
          <p:cNvSpPr txBox="1"/>
          <p:nvPr/>
        </p:nvSpPr>
        <p:spPr>
          <a:xfrm>
            <a:off x="6035040" y="1097280"/>
            <a:ext cx="2651760" cy="3218688"/>
          </a:xfrm>
          <a:prstGeom prst="roundRect">
            <a:avLst>
              <a:gd name="adj" fmla="val 2069"/>
            </a:avLst>
          </a:prstGeom>
          <a:noFill/>
          <a:ln w="12700">
            <a:solidFill>
              <a:schemeClr val="accent3"/>
            </a:solidFill>
            <a:prstDash val="dash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_241"/>
          <p:cNvSpPr txBox="1"/>
          <p:nvPr/>
        </p:nvSpPr>
        <p:spPr>
          <a:xfrm>
            <a:off x="6217920" y="12344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Additional questions (to be added by the team)</a:t>
            </a:r>
            <a:endParaRPr lang="en-US" sz="1200" dirty="0"/>
          </a:p>
        </p:txBody>
      </p:sp>
      <p:sp>
        <p:nvSpPr>
          <p:cNvPr id="18" name="Text_242"/>
          <p:cNvSpPr txBox="1"/>
          <p:nvPr/>
        </p:nvSpPr>
        <p:spPr>
          <a:xfrm>
            <a:off x="6217920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7.</a:t>
            </a:r>
            <a:endParaRPr lang="en-US" sz="1200" dirty="0"/>
          </a:p>
        </p:txBody>
      </p:sp>
      <p:sp>
        <p:nvSpPr>
          <p:cNvPr id="19" name="Field_243"/>
          <p:cNvSpPr/>
          <p:nvPr/>
        </p:nvSpPr>
        <p:spPr>
          <a:xfrm>
            <a:off x="6583680" y="2350008"/>
            <a:ext cx="192024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0" name="Text_244"/>
          <p:cNvSpPr txBox="1"/>
          <p:nvPr/>
        </p:nvSpPr>
        <p:spPr>
          <a:xfrm>
            <a:off x="621792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8.</a:t>
            </a:r>
            <a:endParaRPr lang="en-US" sz="1200" dirty="0"/>
          </a:p>
        </p:txBody>
      </p:sp>
      <p:sp>
        <p:nvSpPr>
          <p:cNvPr id="21" name="Field_245"/>
          <p:cNvSpPr/>
          <p:nvPr/>
        </p:nvSpPr>
        <p:spPr>
          <a:xfrm>
            <a:off x="6583680" y="3035808"/>
            <a:ext cx="192024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2" name="Text_246"/>
          <p:cNvSpPr txBox="1"/>
          <p:nvPr/>
        </p:nvSpPr>
        <p:spPr>
          <a:xfrm>
            <a:off x="6217920" y="3429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9.</a:t>
            </a:r>
            <a:endParaRPr lang="en-US" sz="1200" dirty="0"/>
          </a:p>
        </p:txBody>
      </p:sp>
      <p:sp>
        <p:nvSpPr>
          <p:cNvPr id="23" name="Field_247"/>
          <p:cNvSpPr/>
          <p:nvPr/>
        </p:nvSpPr>
        <p:spPr>
          <a:xfrm>
            <a:off x="6583680" y="3721608"/>
            <a:ext cx="1920240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54880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anchor="ctr"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2" hasCustomPrompt="1"/>
          </p:nvPr>
        </p:nvSpPr>
        <p:spPr>
          <a:xfrm>
            <a:off x="91440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bg1"/>
                </a:solidFill>
              </a:rPr>
              <a:t>Thank You</a:t>
            </a: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LE Review">
  <a:themeElements>
    <a:clrScheme name="KLE Review">
      <a:dk1>
        <a:srgbClr val="1F2430"/>
      </a:dk1>
      <a:lt1>
        <a:srgbClr val="FFFFFF"/>
      </a:lt1>
      <a:dk2>
        <a:srgbClr val="3A4352"/>
      </a:dk2>
      <a:lt2>
        <a:srgbClr val="F0F2F5"/>
      </a:lt2>
      <a:accent1>
        <a:srgbClr val="C8102E"/>
      </a:accent1>
      <a:accent2>
        <a:srgbClr val="5B6577"/>
      </a:accent2>
      <a:accent3>
        <a:srgbClr val="8A93A3"/>
      </a:accent3>
      <a:accent4>
        <a:srgbClr val="D9DDE3"/>
      </a:accent4>
      <a:accent5>
        <a:srgbClr val="8E0B22"/>
      </a:accent5>
      <a:accent6>
        <a:srgbClr val="F2C4CB"/>
      </a:accent6>
      <a:hlink>
        <a:srgbClr val="C8102E"/>
      </a:hlink>
      <a:folHlink>
        <a:srgbClr val="5B6577"/>
      </a:folHlink>
    </a:clrScheme>
    <a:fontScheme name="KLE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1817</Words>
  <Application>Microsoft Office PowerPoint</Application>
  <PresentationFormat>On-screen Show (16:9)</PresentationFormat>
  <Paragraphs>380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KLE Review</vt:lpstr>
      <vt:lpstr>Context-Aware Application Agent</vt:lpstr>
      <vt:lpstr>Problem and Motivation</vt:lpstr>
      <vt:lpstr>Proposed System Overview</vt:lpstr>
      <vt:lpstr>Application Metadata Layer</vt:lpstr>
      <vt:lpstr>Intent Understanding and Planning</vt:lpstr>
      <vt:lpstr>Agentic Execution and Control</vt:lpstr>
      <vt:lpstr>Data Retrieval and Analysis</vt:lpstr>
      <vt:lpstr>End-to-End Architecture</vt:lpstr>
      <vt:lpstr>Key Performance Indicators</vt:lpstr>
      <vt:lpstr>Expectations and Deliverables</vt:lpstr>
      <vt:lpstr>Expected Outcomes</vt:lpstr>
      <vt:lpstr>Development Roadmap</vt:lpstr>
      <vt:lpstr>Discussion Points / Questions for Mentors</vt:lpstr>
      <vt:lpstr>Thank You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Context-Aware Application Agent</dc:title>
  <dc:subject>PptxGenJS Presentation</dc:subject>
  <dc:creator>PptxGenJS</dc:creator>
  <cp:lastModifiedBy>Admin</cp:lastModifiedBy>
  <cp:revision>5</cp:revision>
  <dcterms:created xsi:type="dcterms:W3CDTF">2026-10-08T19:18:43Z</dcterms:created>
  <dcterms:modified xsi:type="dcterms:W3CDTF">2026-10-08T19:55:27Z</dcterms:modified>
</cp:coreProperties>
</file>